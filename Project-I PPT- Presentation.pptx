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69" r:id="rId17"/>
    <p:sldId id="272" r:id="rId18"/>
    <p:sldId id="273" r:id="rId19"/>
  </p:sldIdLst>
  <p:sldSz cx="18288000" cy="10287000"/>
  <p:notesSz cx="6858000" cy="9144000"/>
  <p:embeddedFontLst>
    <p:embeddedFont>
      <p:font typeface="Poppins" panose="00000500000000000000" pitchFamily="2" charset="0"/>
      <p:regular r:id="rId21"/>
    </p:embeddedFont>
    <p:embeddedFont>
      <p:font typeface="Poppins Bold" panose="00000800000000000000" charset="0"/>
      <p:regular r:id="rId22"/>
    </p:embeddedFont>
    <p:embeddedFont>
      <p:font typeface="Poppins Italics" panose="020B0604020202020204" charset="0"/>
      <p:regular r:id="rId23"/>
    </p:embeddedFont>
    <p:embeddedFont>
      <p:font typeface="Poppins Medium" panose="00000600000000000000" pitchFamily="2" charset="0"/>
      <p:regular r:id="rId24"/>
    </p:embeddedFont>
    <p:embeddedFont>
      <p:font typeface="Poppins Semi-Bold" panose="020B0604020202020204" charset="0"/>
      <p:regular r:id="rId25"/>
    </p:embeddedFont>
    <p:embeddedFont>
      <p:font typeface="Poppins Ultra-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3311" autoAdjust="0"/>
  </p:normalViewPr>
  <p:slideViewPr>
    <p:cSldViewPr>
      <p:cViewPr varScale="1">
        <p:scale>
          <a:sx n="44" d="100"/>
          <a:sy n="44" d="100"/>
        </p:scale>
        <p:origin x="1330" y="1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11.10.2025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3949853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71B2431-D351-4C6E-A3CF-9DFAC0E3E050}" type="slidenum">
              <a:rPr lang="cs-CZ" smtClean="0"/>
              <a:t>4</a:t>
            </a:fld>
            <a:endParaRPr lang="cs-CZ"/>
          </a:p>
        </p:txBody>
      </p:sp>
    </p:spTree>
    <p:extLst>
      <p:ext uri="{BB962C8B-B14F-4D97-AF65-F5344CB8AC3E}">
        <p14:creationId xmlns:p14="http://schemas.microsoft.com/office/powerpoint/2010/main" val="4099644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71B2431-D351-4C6E-A3CF-9DFAC0E3E050}" type="slidenum">
              <a:rPr lang="cs-CZ" smtClean="0"/>
              <a:t>5</a:t>
            </a:fld>
            <a:endParaRPr lang="cs-CZ"/>
          </a:p>
        </p:txBody>
      </p:sp>
    </p:spTree>
    <p:extLst>
      <p:ext uri="{BB962C8B-B14F-4D97-AF65-F5344CB8AC3E}">
        <p14:creationId xmlns:p14="http://schemas.microsoft.com/office/powerpoint/2010/main" val="3847045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nSpc>
                <a:spcPct val="107000"/>
              </a:lnSpc>
              <a:spcAft>
                <a:spcPts val="800"/>
              </a:spcAft>
            </a:pPr>
            <a:endParaRPr lang="en-PK" sz="1800" kern="100" dirty="0">
              <a:effectLst/>
              <a:latin typeface="Calibri" panose="020F0502020204030204" pitchFamily="34" charset="0"/>
              <a:ea typeface="DengXian" panose="02010600030101010101" pitchFamily="2" charset="-122"/>
              <a:cs typeface="Arial" panose="020B0604020202020204" pitchFamily="34" charset="0"/>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Severity refers to the severity of a crash. It shows how much people get hurt or even die, and how strongly the accident changes their lives.</a:t>
            </a:r>
          </a:p>
          <a:p>
            <a:endParaRPr lang="en-US" dirty="0"/>
          </a:p>
          <a:p>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Average duration means the usual time something lasts. For accidents, we look at when they start and end, add up all the times from many accidents, then divide by the number of accidents. This tells us how long an accident usually takes before the road is clear.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71B2431-D351-4C6E-A3CF-9DFAC0E3E050}" type="slidenum">
              <a:rPr lang="cs-CZ" smtClean="0"/>
              <a:t>18</a:t>
            </a:fld>
            <a:endParaRPr lang="cs-CZ"/>
          </a:p>
        </p:txBody>
      </p:sp>
    </p:spTree>
    <p:extLst>
      <p:ext uri="{BB962C8B-B14F-4D97-AF65-F5344CB8AC3E}">
        <p14:creationId xmlns:p14="http://schemas.microsoft.com/office/powerpoint/2010/main" val="909850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D133"/>
        </a:solidFill>
        <a:effectLst/>
      </p:bgPr>
    </p:bg>
    <p:spTree>
      <p:nvGrpSpPr>
        <p:cNvPr id="1" name=""/>
        <p:cNvGrpSpPr/>
        <p:nvPr/>
      </p:nvGrpSpPr>
      <p:grpSpPr>
        <a:xfrm>
          <a:off x="0" y="0"/>
          <a:ext cx="0" cy="0"/>
          <a:chOff x="0" y="0"/>
          <a:chExt cx="0" cy="0"/>
        </a:xfrm>
      </p:grpSpPr>
      <p:grpSp>
        <p:nvGrpSpPr>
          <p:cNvPr id="2" name="Group 2"/>
          <p:cNvGrpSpPr/>
          <p:nvPr/>
        </p:nvGrpSpPr>
        <p:grpSpPr>
          <a:xfrm>
            <a:off x="0" y="-743207"/>
            <a:ext cx="18288000" cy="7720720"/>
            <a:chOff x="0" y="0"/>
            <a:chExt cx="4816593" cy="2033441"/>
          </a:xfrm>
        </p:grpSpPr>
        <p:sp>
          <p:nvSpPr>
            <p:cNvPr id="3" name="Freeform 3"/>
            <p:cNvSpPr/>
            <p:nvPr/>
          </p:nvSpPr>
          <p:spPr>
            <a:xfrm>
              <a:off x="0" y="0"/>
              <a:ext cx="4816592" cy="2033441"/>
            </a:xfrm>
            <a:custGeom>
              <a:avLst/>
              <a:gdLst/>
              <a:ahLst/>
              <a:cxnLst/>
              <a:rect l="l" t="t" r="r" b="b"/>
              <a:pathLst>
                <a:path w="4816592" h="2033441">
                  <a:moveTo>
                    <a:pt x="42333" y="0"/>
                  </a:moveTo>
                  <a:lnTo>
                    <a:pt x="4774259" y="0"/>
                  </a:lnTo>
                  <a:cubicBezTo>
                    <a:pt x="4785487" y="0"/>
                    <a:pt x="4796254" y="4460"/>
                    <a:pt x="4804193" y="12399"/>
                  </a:cubicBezTo>
                  <a:cubicBezTo>
                    <a:pt x="4812132" y="20338"/>
                    <a:pt x="4816592" y="31106"/>
                    <a:pt x="4816592" y="42333"/>
                  </a:cubicBezTo>
                  <a:lnTo>
                    <a:pt x="4816592" y="1991107"/>
                  </a:lnTo>
                  <a:cubicBezTo>
                    <a:pt x="4816592" y="2002335"/>
                    <a:pt x="4812132" y="2013103"/>
                    <a:pt x="4804193" y="2021042"/>
                  </a:cubicBezTo>
                  <a:cubicBezTo>
                    <a:pt x="4796254" y="2028980"/>
                    <a:pt x="4785487" y="2033441"/>
                    <a:pt x="4774259" y="2033441"/>
                  </a:cubicBezTo>
                  <a:lnTo>
                    <a:pt x="42333" y="2033441"/>
                  </a:lnTo>
                  <a:cubicBezTo>
                    <a:pt x="31106" y="2033441"/>
                    <a:pt x="20338" y="2028980"/>
                    <a:pt x="12399" y="2021042"/>
                  </a:cubicBezTo>
                  <a:cubicBezTo>
                    <a:pt x="4460" y="2013103"/>
                    <a:pt x="0" y="2002335"/>
                    <a:pt x="0" y="1991107"/>
                  </a:cubicBezTo>
                  <a:lnTo>
                    <a:pt x="0" y="42333"/>
                  </a:lnTo>
                  <a:cubicBezTo>
                    <a:pt x="0" y="31106"/>
                    <a:pt x="4460" y="20338"/>
                    <a:pt x="12399" y="12399"/>
                  </a:cubicBezTo>
                  <a:cubicBezTo>
                    <a:pt x="20338" y="4460"/>
                    <a:pt x="31106" y="0"/>
                    <a:pt x="42333" y="0"/>
                  </a:cubicBezTo>
                  <a:close/>
                </a:path>
              </a:pathLst>
            </a:custGeom>
            <a:solidFill>
              <a:srgbClr val="FEFEFE"/>
            </a:solidFill>
          </p:spPr>
        </p:sp>
        <p:sp>
          <p:nvSpPr>
            <p:cNvPr id="4" name="TextBox 4"/>
            <p:cNvSpPr txBox="1"/>
            <p:nvPr/>
          </p:nvSpPr>
          <p:spPr>
            <a:xfrm>
              <a:off x="0" y="-57150"/>
              <a:ext cx="4816593" cy="209059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201150" y="7969951"/>
            <a:ext cx="8394461" cy="1208024"/>
            <a:chOff x="0" y="0"/>
            <a:chExt cx="3120136" cy="449010"/>
          </a:xfrm>
        </p:grpSpPr>
        <p:sp>
          <p:nvSpPr>
            <p:cNvPr id="6" name="Freeform 6"/>
            <p:cNvSpPr/>
            <p:nvPr/>
          </p:nvSpPr>
          <p:spPr>
            <a:xfrm>
              <a:off x="0" y="0"/>
              <a:ext cx="3120136" cy="449010"/>
            </a:xfrm>
            <a:custGeom>
              <a:avLst/>
              <a:gdLst/>
              <a:ahLst/>
              <a:cxnLst/>
              <a:rect l="l" t="t" r="r" b="b"/>
              <a:pathLst>
                <a:path w="3120136" h="449010">
                  <a:moveTo>
                    <a:pt x="2916936" y="0"/>
                  </a:moveTo>
                  <a:cubicBezTo>
                    <a:pt x="3029161" y="0"/>
                    <a:pt x="3120136" y="100514"/>
                    <a:pt x="3120136" y="224505"/>
                  </a:cubicBezTo>
                  <a:cubicBezTo>
                    <a:pt x="3120136" y="348496"/>
                    <a:pt x="3029161" y="449010"/>
                    <a:pt x="2916936" y="449010"/>
                  </a:cubicBezTo>
                  <a:lnTo>
                    <a:pt x="203200" y="449010"/>
                  </a:lnTo>
                  <a:cubicBezTo>
                    <a:pt x="90976" y="449010"/>
                    <a:pt x="0" y="348496"/>
                    <a:pt x="0" y="224505"/>
                  </a:cubicBezTo>
                  <a:cubicBezTo>
                    <a:pt x="0" y="100514"/>
                    <a:pt x="90976" y="0"/>
                    <a:pt x="203200" y="0"/>
                  </a:cubicBezTo>
                  <a:close/>
                </a:path>
              </a:pathLst>
            </a:custGeom>
            <a:solidFill>
              <a:srgbClr val="F1F0EF">
                <a:alpha val="87843"/>
              </a:srgbClr>
            </a:solidFill>
          </p:spPr>
        </p:sp>
        <p:sp>
          <p:nvSpPr>
            <p:cNvPr id="7" name="TextBox 7"/>
            <p:cNvSpPr txBox="1"/>
            <p:nvPr/>
          </p:nvSpPr>
          <p:spPr>
            <a:xfrm>
              <a:off x="0" y="-19050"/>
              <a:ext cx="3120136" cy="468060"/>
            </a:xfrm>
            <a:prstGeom prst="rect">
              <a:avLst/>
            </a:prstGeom>
          </p:spPr>
          <p:txBody>
            <a:bodyPr lIns="50800" tIns="50800" rIns="50800" bIns="50800" rtlCol="0" anchor="ctr"/>
            <a:lstStyle/>
            <a:p>
              <a:pPr algn="ctr">
                <a:lnSpc>
                  <a:spcPts val="2079"/>
                </a:lnSpc>
              </a:pPr>
              <a:endParaRPr/>
            </a:p>
          </p:txBody>
        </p:sp>
      </p:grpSp>
      <p:grpSp>
        <p:nvGrpSpPr>
          <p:cNvPr id="8" name="Group 8"/>
          <p:cNvGrpSpPr/>
          <p:nvPr/>
        </p:nvGrpSpPr>
        <p:grpSpPr>
          <a:xfrm>
            <a:off x="1028700" y="2971195"/>
            <a:ext cx="3249888" cy="324988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10" name="TextBox 10"/>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11" name="Group 11"/>
          <p:cNvGrpSpPr/>
          <p:nvPr/>
        </p:nvGrpSpPr>
        <p:grpSpPr>
          <a:xfrm>
            <a:off x="2096591" y="7314237"/>
            <a:ext cx="1114105" cy="1112903"/>
            <a:chOff x="0" y="0"/>
            <a:chExt cx="812800" cy="811923"/>
          </a:xfrm>
        </p:grpSpPr>
        <p:sp>
          <p:nvSpPr>
            <p:cNvPr id="12" name="Freeform 12"/>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13" name="TextBox 13"/>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grpSp>
        <p:nvGrpSpPr>
          <p:cNvPr id="14" name="Group 14"/>
          <p:cNvGrpSpPr/>
          <p:nvPr/>
        </p:nvGrpSpPr>
        <p:grpSpPr>
          <a:xfrm>
            <a:off x="7162237" y="6447515"/>
            <a:ext cx="1744392" cy="1742510"/>
            <a:chOff x="0" y="0"/>
            <a:chExt cx="812800" cy="811923"/>
          </a:xfrm>
        </p:grpSpPr>
        <p:sp>
          <p:nvSpPr>
            <p:cNvPr id="15" name="Freeform 15"/>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16" name="TextBox 16"/>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17" name="Freeform 17"/>
          <p:cNvSpPr/>
          <p:nvPr/>
        </p:nvSpPr>
        <p:spPr>
          <a:xfrm>
            <a:off x="3080130" y="2971195"/>
            <a:ext cx="5242367" cy="5242367"/>
          </a:xfrm>
          <a:custGeom>
            <a:avLst/>
            <a:gdLst/>
            <a:ahLst/>
            <a:cxnLst/>
            <a:rect l="l" t="t" r="r" b="b"/>
            <a:pathLst>
              <a:path w="5242367" h="5242367">
                <a:moveTo>
                  <a:pt x="0" y="0"/>
                </a:moveTo>
                <a:lnTo>
                  <a:pt x="5242368" y="0"/>
                </a:lnTo>
                <a:lnTo>
                  <a:pt x="5242368" y="5242367"/>
                </a:lnTo>
                <a:lnTo>
                  <a:pt x="0" y="5242367"/>
                </a:lnTo>
                <a:lnTo>
                  <a:pt x="0" y="0"/>
                </a:lnTo>
                <a:close/>
              </a:path>
            </a:pathLst>
          </a:custGeom>
          <a:blipFill>
            <a:blip r:embed="rId3"/>
            <a:stretch>
              <a:fillRect/>
            </a:stretch>
          </a:blipFill>
        </p:spPr>
      </p:sp>
      <p:sp>
        <p:nvSpPr>
          <p:cNvPr id="18" name="Freeform 18"/>
          <p:cNvSpPr/>
          <p:nvPr/>
        </p:nvSpPr>
        <p:spPr>
          <a:xfrm>
            <a:off x="5624456" y="2360010"/>
            <a:ext cx="1979662" cy="1979662"/>
          </a:xfrm>
          <a:custGeom>
            <a:avLst/>
            <a:gdLst/>
            <a:ahLst/>
            <a:cxnLst/>
            <a:rect l="l" t="t" r="r" b="b"/>
            <a:pathLst>
              <a:path w="1979662" h="1979662">
                <a:moveTo>
                  <a:pt x="0" y="0"/>
                </a:moveTo>
                <a:lnTo>
                  <a:pt x="1979662" y="0"/>
                </a:lnTo>
                <a:lnTo>
                  <a:pt x="1979662" y="1979662"/>
                </a:lnTo>
                <a:lnTo>
                  <a:pt x="0" y="1979662"/>
                </a:lnTo>
                <a:lnTo>
                  <a:pt x="0" y="0"/>
                </a:lnTo>
                <a:close/>
              </a:path>
            </a:pathLst>
          </a:custGeom>
          <a:blipFill>
            <a:blip r:embed="rId3"/>
            <a:stretch>
              <a:fillRect/>
            </a:stretch>
          </a:blipFill>
        </p:spPr>
      </p:sp>
      <p:sp>
        <p:nvSpPr>
          <p:cNvPr id="19" name="TextBox 19"/>
          <p:cNvSpPr txBox="1"/>
          <p:nvPr/>
        </p:nvSpPr>
        <p:spPr>
          <a:xfrm>
            <a:off x="6248400" y="1010174"/>
            <a:ext cx="11303794" cy="1961020"/>
          </a:xfrm>
          <a:prstGeom prst="rect">
            <a:avLst/>
          </a:prstGeom>
        </p:spPr>
        <p:txBody>
          <a:bodyPr lIns="0" tIns="0" rIns="0" bIns="0" rtlCol="0" anchor="t">
            <a:spAutoFit/>
          </a:bodyPr>
          <a:lstStyle/>
          <a:p>
            <a:pPr algn="r">
              <a:lnSpc>
                <a:spcPts val="15287"/>
              </a:lnSpc>
            </a:pPr>
            <a:r>
              <a:rPr lang="en-US" sz="10919" b="1" dirty="0">
                <a:solidFill>
                  <a:srgbClr val="000000"/>
                </a:solidFill>
                <a:latin typeface="Poppins Bold"/>
                <a:ea typeface="Poppins Bold"/>
                <a:cs typeface="Poppins Bold"/>
                <a:sym typeface="Poppins Bold"/>
              </a:rPr>
              <a:t>US ACCIDENTS  </a:t>
            </a:r>
          </a:p>
        </p:txBody>
      </p:sp>
      <p:sp>
        <p:nvSpPr>
          <p:cNvPr id="20" name="TextBox 20"/>
          <p:cNvSpPr txBox="1"/>
          <p:nvPr/>
        </p:nvSpPr>
        <p:spPr>
          <a:xfrm>
            <a:off x="9128928" y="8156412"/>
            <a:ext cx="8538904" cy="915035"/>
          </a:xfrm>
          <a:prstGeom prst="rect">
            <a:avLst/>
          </a:prstGeom>
        </p:spPr>
        <p:txBody>
          <a:bodyPr lIns="0" tIns="0" rIns="0" bIns="0" rtlCol="0" anchor="t">
            <a:spAutoFit/>
          </a:bodyPr>
          <a:lstStyle/>
          <a:p>
            <a:pPr algn="ctr">
              <a:lnSpc>
                <a:spcPts val="3640"/>
              </a:lnSpc>
            </a:pPr>
            <a:r>
              <a:rPr lang="en-US" sz="2600" b="1" dirty="0">
                <a:solidFill>
                  <a:srgbClr val="000000"/>
                </a:solidFill>
                <a:latin typeface="Poppins Medium"/>
                <a:ea typeface="Poppins Medium"/>
                <a:cs typeface="Poppins Medium"/>
                <a:sym typeface="Poppins Medium"/>
              </a:rPr>
              <a:t>From nationwide patterns to city, specific risk factors</a:t>
            </a:r>
          </a:p>
        </p:txBody>
      </p:sp>
      <p:sp>
        <p:nvSpPr>
          <p:cNvPr id="21" name="TextBox 21"/>
          <p:cNvSpPr txBox="1"/>
          <p:nvPr/>
        </p:nvSpPr>
        <p:spPr>
          <a:xfrm>
            <a:off x="9505950" y="4241865"/>
            <a:ext cx="7677933" cy="651510"/>
          </a:xfrm>
          <a:prstGeom prst="rect">
            <a:avLst/>
          </a:prstGeom>
        </p:spPr>
        <p:txBody>
          <a:bodyPr lIns="0" tIns="0" rIns="0" bIns="0" rtlCol="0" anchor="t">
            <a:spAutoFit/>
          </a:bodyPr>
          <a:lstStyle/>
          <a:p>
            <a:pPr algn="r">
              <a:lnSpc>
                <a:spcPts val="5039"/>
              </a:lnSpc>
            </a:pPr>
            <a:r>
              <a:rPr lang="en-US" sz="3599">
                <a:solidFill>
                  <a:srgbClr val="000000"/>
                </a:solidFill>
                <a:latin typeface="Poppins"/>
                <a:ea typeface="Poppins"/>
                <a:cs typeface="Poppins"/>
                <a:sym typeface="Poppins"/>
              </a:rPr>
              <a:t>National Trends</a:t>
            </a:r>
          </a:p>
        </p:txBody>
      </p:sp>
      <p:sp>
        <p:nvSpPr>
          <p:cNvPr id="22" name="TextBox 22"/>
          <p:cNvSpPr txBox="1"/>
          <p:nvPr/>
        </p:nvSpPr>
        <p:spPr>
          <a:xfrm>
            <a:off x="9665523" y="2742595"/>
            <a:ext cx="7930088" cy="1444112"/>
          </a:xfrm>
          <a:prstGeom prst="rect">
            <a:avLst/>
          </a:prstGeom>
        </p:spPr>
        <p:txBody>
          <a:bodyPr lIns="0" tIns="0" rIns="0" bIns="0" rtlCol="0" anchor="t">
            <a:spAutoFit/>
          </a:bodyPr>
          <a:lstStyle/>
          <a:p>
            <a:pPr algn="r">
              <a:lnSpc>
                <a:spcPts val="11228"/>
              </a:lnSpc>
            </a:pPr>
            <a:r>
              <a:rPr lang="en-US" sz="8020" b="1">
                <a:solidFill>
                  <a:srgbClr val="000000"/>
                </a:solidFill>
                <a:latin typeface="Poppins Bold"/>
                <a:ea typeface="Poppins Bold"/>
                <a:cs typeface="Poppins Bold"/>
                <a:sym typeface="Poppins Bold"/>
              </a:rPr>
              <a:t> (2016–2022)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2305925" y="-106483"/>
            <a:ext cx="6845839" cy="9468934"/>
            <a:chOff x="0" y="0"/>
            <a:chExt cx="812800" cy="1124238"/>
          </a:xfrm>
        </p:grpSpPr>
        <p:sp>
          <p:nvSpPr>
            <p:cNvPr id="3" name="Freeform 3"/>
            <p:cNvSpPr/>
            <p:nvPr/>
          </p:nvSpPr>
          <p:spPr>
            <a:xfrm>
              <a:off x="0" y="0"/>
              <a:ext cx="812800" cy="1124238"/>
            </a:xfrm>
            <a:custGeom>
              <a:avLst/>
              <a:gdLst/>
              <a:ahLst/>
              <a:cxnLst/>
              <a:rect l="l" t="t" r="r" b="b"/>
              <a:pathLst>
                <a:path w="812800" h="1124238">
                  <a:moveTo>
                    <a:pt x="113089" y="0"/>
                  </a:moveTo>
                  <a:lnTo>
                    <a:pt x="699711" y="0"/>
                  </a:lnTo>
                  <a:cubicBezTo>
                    <a:pt x="762168" y="0"/>
                    <a:pt x="812800" y="50632"/>
                    <a:pt x="812800" y="113089"/>
                  </a:cubicBezTo>
                  <a:lnTo>
                    <a:pt x="812800" y="1011148"/>
                  </a:lnTo>
                  <a:cubicBezTo>
                    <a:pt x="812800" y="1073606"/>
                    <a:pt x="762168" y="1124238"/>
                    <a:pt x="699711" y="1124238"/>
                  </a:cubicBezTo>
                  <a:lnTo>
                    <a:pt x="113089" y="1124238"/>
                  </a:lnTo>
                  <a:cubicBezTo>
                    <a:pt x="50632" y="1124238"/>
                    <a:pt x="0" y="1073606"/>
                    <a:pt x="0" y="1011148"/>
                  </a:cubicBezTo>
                  <a:lnTo>
                    <a:pt x="0" y="113089"/>
                  </a:lnTo>
                  <a:cubicBezTo>
                    <a:pt x="0" y="50632"/>
                    <a:pt x="50632" y="0"/>
                    <a:pt x="113089" y="0"/>
                  </a:cubicBezTo>
                  <a:close/>
                </a:path>
              </a:pathLst>
            </a:custGeom>
            <a:blipFill>
              <a:blip r:embed="rId3"/>
              <a:stretch>
                <a:fillRect l="-53643" r="-53643"/>
              </a:stretch>
            </a:blipFill>
          </p:spPr>
        </p:sp>
      </p:grpSp>
      <p:grpSp>
        <p:nvGrpSpPr>
          <p:cNvPr id="4" name="Group 4"/>
          <p:cNvGrpSpPr/>
          <p:nvPr/>
        </p:nvGrpSpPr>
        <p:grpSpPr>
          <a:xfrm>
            <a:off x="11345652" y="-616906"/>
            <a:ext cx="2356765" cy="235676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6" name="TextBox 6"/>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sp>
        <p:nvSpPr>
          <p:cNvPr id="7" name="Freeform 7"/>
          <p:cNvSpPr/>
          <p:nvPr/>
        </p:nvSpPr>
        <p:spPr>
          <a:xfrm>
            <a:off x="11714612" y="8035678"/>
            <a:ext cx="3098851" cy="3098851"/>
          </a:xfrm>
          <a:custGeom>
            <a:avLst/>
            <a:gdLst/>
            <a:ahLst/>
            <a:cxnLst/>
            <a:rect l="l" t="t" r="r" b="b"/>
            <a:pathLst>
              <a:path w="3098851" h="3098851">
                <a:moveTo>
                  <a:pt x="0" y="0"/>
                </a:moveTo>
                <a:lnTo>
                  <a:pt x="3098851" y="0"/>
                </a:lnTo>
                <a:lnTo>
                  <a:pt x="3098851" y="3098852"/>
                </a:lnTo>
                <a:lnTo>
                  <a:pt x="0" y="3098852"/>
                </a:lnTo>
                <a:lnTo>
                  <a:pt x="0" y="0"/>
                </a:lnTo>
                <a:close/>
              </a:path>
            </a:pathLst>
          </a:custGeom>
          <a:blipFill>
            <a:blip r:embed="rId4"/>
            <a:stretch>
              <a:fillRect/>
            </a:stretch>
          </a:blipFill>
        </p:spPr>
      </p:sp>
      <p:sp>
        <p:nvSpPr>
          <p:cNvPr id="8" name="Freeform 8"/>
          <p:cNvSpPr/>
          <p:nvPr/>
        </p:nvSpPr>
        <p:spPr>
          <a:xfrm>
            <a:off x="11196774" y="8466634"/>
            <a:ext cx="1009321" cy="1009321"/>
          </a:xfrm>
          <a:custGeom>
            <a:avLst/>
            <a:gdLst/>
            <a:ahLst/>
            <a:cxnLst/>
            <a:rect l="l" t="t" r="r" b="b"/>
            <a:pathLst>
              <a:path w="1009321" h="1009321">
                <a:moveTo>
                  <a:pt x="0" y="0"/>
                </a:moveTo>
                <a:lnTo>
                  <a:pt x="1009321" y="0"/>
                </a:lnTo>
                <a:lnTo>
                  <a:pt x="1009321" y="1009322"/>
                </a:lnTo>
                <a:lnTo>
                  <a:pt x="0" y="1009322"/>
                </a:lnTo>
                <a:lnTo>
                  <a:pt x="0" y="0"/>
                </a:lnTo>
                <a:close/>
              </a:path>
            </a:pathLst>
          </a:custGeom>
          <a:blipFill>
            <a:blip r:embed="rId4"/>
            <a:stretch>
              <a:fillRect/>
            </a:stretch>
          </a:blipFill>
        </p:spPr>
      </p:sp>
      <p:grpSp>
        <p:nvGrpSpPr>
          <p:cNvPr id="9" name="Group 9"/>
          <p:cNvGrpSpPr/>
          <p:nvPr/>
        </p:nvGrpSpPr>
        <p:grpSpPr>
          <a:xfrm>
            <a:off x="10926102" y="634871"/>
            <a:ext cx="788509" cy="787658"/>
            <a:chOff x="0" y="0"/>
            <a:chExt cx="812800" cy="811923"/>
          </a:xfrm>
        </p:grpSpPr>
        <p:sp>
          <p:nvSpPr>
            <p:cNvPr id="10" name="Freeform 10"/>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11" name="TextBox 11"/>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grpSp>
        <p:nvGrpSpPr>
          <p:cNvPr id="12" name="Group 12"/>
          <p:cNvGrpSpPr/>
          <p:nvPr/>
        </p:nvGrpSpPr>
        <p:grpSpPr>
          <a:xfrm>
            <a:off x="11448507" y="9974542"/>
            <a:ext cx="770766" cy="769934"/>
            <a:chOff x="0" y="0"/>
            <a:chExt cx="812800" cy="811923"/>
          </a:xfrm>
        </p:grpSpPr>
        <p:sp>
          <p:nvSpPr>
            <p:cNvPr id="13" name="Freeform 13"/>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14" name="TextBox 14"/>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15" name="Freeform 15"/>
          <p:cNvSpPr/>
          <p:nvPr/>
        </p:nvSpPr>
        <p:spPr>
          <a:xfrm>
            <a:off x="3578008" y="2667474"/>
            <a:ext cx="5041995" cy="5041995"/>
          </a:xfrm>
          <a:custGeom>
            <a:avLst/>
            <a:gdLst/>
            <a:ahLst/>
            <a:cxnLst/>
            <a:rect l="l" t="t" r="r" b="b"/>
            <a:pathLst>
              <a:path w="5041995" h="5041995">
                <a:moveTo>
                  <a:pt x="0" y="0"/>
                </a:moveTo>
                <a:lnTo>
                  <a:pt x="5041995" y="0"/>
                </a:lnTo>
                <a:lnTo>
                  <a:pt x="5041995" y="5041996"/>
                </a:lnTo>
                <a:lnTo>
                  <a:pt x="0" y="5041996"/>
                </a:lnTo>
                <a:lnTo>
                  <a:pt x="0" y="0"/>
                </a:lnTo>
                <a:close/>
              </a:path>
            </a:pathLst>
          </a:custGeom>
          <a:blipFill>
            <a:blip r:embed="rId5">
              <a:alphaModFix amt="2000"/>
              <a:extLst>
                <a:ext uri="{96DAC541-7B7A-43D3-8B79-37D633B846F1}">
                  <asvg:svgBlip xmlns:asvg="http://schemas.microsoft.com/office/drawing/2016/SVG/main" r:embed="rId6"/>
                </a:ext>
              </a:extLst>
            </a:blip>
            <a:stretch>
              <a:fillRect/>
            </a:stretch>
          </a:blipFill>
        </p:spPr>
      </p:sp>
      <p:sp>
        <p:nvSpPr>
          <p:cNvPr id="16" name="TextBox 16"/>
          <p:cNvSpPr txBox="1"/>
          <p:nvPr/>
        </p:nvSpPr>
        <p:spPr>
          <a:xfrm>
            <a:off x="608226" y="1057275"/>
            <a:ext cx="6312578" cy="818652"/>
          </a:xfrm>
          <a:prstGeom prst="rect">
            <a:avLst/>
          </a:prstGeom>
        </p:spPr>
        <p:txBody>
          <a:bodyPr lIns="0" tIns="0" rIns="0" bIns="0" rtlCol="0" anchor="t">
            <a:spAutoFit/>
          </a:bodyPr>
          <a:lstStyle/>
          <a:p>
            <a:pPr algn="l">
              <a:lnSpc>
                <a:spcPts val="5824"/>
              </a:lnSpc>
            </a:pPr>
            <a:r>
              <a:rPr lang="en-US" sz="5600" b="1" spc="117">
                <a:solidFill>
                  <a:srgbClr val="000000"/>
                </a:solidFill>
                <a:latin typeface="Poppins Ultra-Bold"/>
                <a:ea typeface="Poppins Ultra-Bold"/>
                <a:cs typeface="Poppins Ultra-Bold"/>
                <a:sym typeface="Poppins Ultra-Bold"/>
              </a:rPr>
              <a:t>Did You Know?</a:t>
            </a:r>
          </a:p>
        </p:txBody>
      </p:sp>
      <p:sp>
        <p:nvSpPr>
          <p:cNvPr id="17" name="TextBox 17"/>
          <p:cNvSpPr txBox="1"/>
          <p:nvPr/>
        </p:nvSpPr>
        <p:spPr>
          <a:xfrm>
            <a:off x="535872" y="3566021"/>
            <a:ext cx="11298017" cy="1272778"/>
          </a:xfrm>
          <a:prstGeom prst="rect">
            <a:avLst/>
          </a:prstGeom>
        </p:spPr>
        <p:txBody>
          <a:bodyPr lIns="0" tIns="0" rIns="0" bIns="0" rtlCol="0" anchor="t">
            <a:spAutoFit/>
          </a:bodyPr>
          <a:lstStyle/>
          <a:p>
            <a:pPr algn="just">
              <a:lnSpc>
                <a:spcPts val="5123"/>
              </a:lnSpc>
            </a:pPr>
            <a:r>
              <a:rPr lang="en-US" sz="2996" b="1">
                <a:solidFill>
                  <a:srgbClr val="000000"/>
                </a:solidFill>
                <a:latin typeface="Poppins Medium"/>
                <a:ea typeface="Poppins Medium"/>
                <a:cs typeface="Poppins Medium"/>
                <a:sym typeface="Poppins Medium"/>
              </a:rPr>
              <a:t>Every year, over                    traffic accidents are reported in the U.S, that’s more than              accidents every single day.</a:t>
            </a:r>
          </a:p>
        </p:txBody>
      </p:sp>
      <p:sp>
        <p:nvSpPr>
          <p:cNvPr id="18" name="TextBox 18"/>
          <p:cNvSpPr txBox="1"/>
          <p:nvPr/>
        </p:nvSpPr>
        <p:spPr>
          <a:xfrm>
            <a:off x="659455" y="7062294"/>
            <a:ext cx="10660901" cy="523968"/>
          </a:xfrm>
          <a:prstGeom prst="rect">
            <a:avLst/>
          </a:prstGeom>
        </p:spPr>
        <p:txBody>
          <a:bodyPr lIns="0" tIns="0" rIns="0" bIns="0" rtlCol="0" anchor="t">
            <a:spAutoFit/>
          </a:bodyPr>
          <a:lstStyle/>
          <a:p>
            <a:pPr algn="just">
              <a:lnSpc>
                <a:spcPts val="4194"/>
              </a:lnSpc>
            </a:pPr>
            <a:r>
              <a:rPr lang="en-US" sz="2996" i="1">
                <a:solidFill>
                  <a:srgbClr val="000000"/>
                </a:solidFill>
                <a:latin typeface="Poppins Italics"/>
                <a:ea typeface="Poppins Italics"/>
                <a:cs typeface="Poppins Italics"/>
                <a:sym typeface="Poppins Italics"/>
              </a:rPr>
              <a:t>“Most people think accidents mostly happen at night”</a:t>
            </a:r>
          </a:p>
        </p:txBody>
      </p:sp>
      <p:sp>
        <p:nvSpPr>
          <p:cNvPr id="19" name="TextBox 19"/>
          <p:cNvSpPr txBox="1"/>
          <p:nvPr/>
        </p:nvSpPr>
        <p:spPr>
          <a:xfrm>
            <a:off x="3785649" y="3556496"/>
            <a:ext cx="1739027" cy="641985"/>
          </a:xfrm>
          <a:prstGeom prst="rect">
            <a:avLst/>
          </a:prstGeom>
        </p:spPr>
        <p:txBody>
          <a:bodyPr lIns="0" tIns="0" rIns="0" bIns="0" rtlCol="0" anchor="t">
            <a:spAutoFit/>
          </a:bodyPr>
          <a:lstStyle/>
          <a:p>
            <a:pPr algn="ctr">
              <a:lnSpc>
                <a:spcPts val="5370"/>
              </a:lnSpc>
            </a:pPr>
            <a:r>
              <a:rPr lang="en-US" sz="3000" b="1" spc="6">
                <a:solidFill>
                  <a:srgbClr val="FCC400"/>
                </a:solidFill>
                <a:latin typeface="Poppins Medium"/>
                <a:ea typeface="Poppins Medium"/>
                <a:cs typeface="Poppins Medium"/>
                <a:sym typeface="Poppins Medium"/>
              </a:rPr>
              <a:t>6 million </a:t>
            </a:r>
          </a:p>
        </p:txBody>
      </p:sp>
      <p:sp>
        <p:nvSpPr>
          <p:cNvPr id="20" name="TextBox 20"/>
          <p:cNvSpPr txBox="1"/>
          <p:nvPr/>
        </p:nvSpPr>
        <p:spPr>
          <a:xfrm>
            <a:off x="5576173" y="4196715"/>
            <a:ext cx="1739027" cy="641985"/>
          </a:xfrm>
          <a:prstGeom prst="rect">
            <a:avLst/>
          </a:prstGeom>
        </p:spPr>
        <p:txBody>
          <a:bodyPr wrap="square" lIns="0" tIns="0" rIns="0" bIns="0" rtlCol="0" anchor="t">
            <a:spAutoFit/>
          </a:bodyPr>
          <a:lstStyle/>
          <a:p>
            <a:pPr algn="ctr">
              <a:lnSpc>
                <a:spcPts val="5370"/>
              </a:lnSpc>
            </a:pPr>
            <a:r>
              <a:rPr lang="en-US" sz="3000" b="1" dirty="0">
                <a:solidFill>
                  <a:srgbClr val="FCC400"/>
                </a:solidFill>
                <a:latin typeface="Poppins Medium"/>
                <a:ea typeface="Poppins Medium"/>
                <a:cs typeface="Poppins Medium"/>
                <a:sym typeface="Poppins Medium"/>
              </a:rPr>
              <a:t>16,000</a:t>
            </a:r>
          </a:p>
        </p:txBody>
      </p:sp>
      <p:sp>
        <p:nvSpPr>
          <p:cNvPr id="21" name="TextBox 21"/>
          <p:cNvSpPr txBox="1"/>
          <p:nvPr/>
        </p:nvSpPr>
        <p:spPr>
          <a:xfrm>
            <a:off x="659455" y="5950113"/>
            <a:ext cx="1210935" cy="625078"/>
          </a:xfrm>
          <a:prstGeom prst="rect">
            <a:avLst/>
          </a:prstGeom>
        </p:spPr>
        <p:txBody>
          <a:bodyPr lIns="0" tIns="0" rIns="0" bIns="0" rtlCol="0" anchor="t">
            <a:spAutoFit/>
          </a:bodyPr>
          <a:lstStyle/>
          <a:p>
            <a:pPr algn="just">
              <a:lnSpc>
                <a:spcPts val="5123"/>
              </a:lnSpc>
            </a:pPr>
            <a:r>
              <a:rPr lang="en-US" sz="2996" b="1">
                <a:solidFill>
                  <a:srgbClr val="000000"/>
                </a:solidFill>
                <a:latin typeface="Poppins Bold"/>
                <a:ea typeface="Poppins Bold"/>
                <a:cs typeface="Poppins Bold"/>
                <a:sym typeface="Poppins Bold"/>
              </a:rPr>
              <a:t>Myth: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2305925" y="-106483"/>
            <a:ext cx="6845839" cy="9468934"/>
            <a:chOff x="0" y="0"/>
            <a:chExt cx="812800" cy="1124238"/>
          </a:xfrm>
        </p:grpSpPr>
        <p:sp>
          <p:nvSpPr>
            <p:cNvPr id="3" name="Freeform 3"/>
            <p:cNvSpPr/>
            <p:nvPr/>
          </p:nvSpPr>
          <p:spPr>
            <a:xfrm>
              <a:off x="0" y="0"/>
              <a:ext cx="812800" cy="1124238"/>
            </a:xfrm>
            <a:custGeom>
              <a:avLst/>
              <a:gdLst/>
              <a:ahLst/>
              <a:cxnLst/>
              <a:rect l="l" t="t" r="r" b="b"/>
              <a:pathLst>
                <a:path w="812800" h="1124238">
                  <a:moveTo>
                    <a:pt x="113089" y="0"/>
                  </a:moveTo>
                  <a:lnTo>
                    <a:pt x="699711" y="0"/>
                  </a:lnTo>
                  <a:cubicBezTo>
                    <a:pt x="762168" y="0"/>
                    <a:pt x="812800" y="50632"/>
                    <a:pt x="812800" y="113089"/>
                  </a:cubicBezTo>
                  <a:lnTo>
                    <a:pt x="812800" y="1011148"/>
                  </a:lnTo>
                  <a:cubicBezTo>
                    <a:pt x="812800" y="1073606"/>
                    <a:pt x="762168" y="1124238"/>
                    <a:pt x="699711" y="1124238"/>
                  </a:cubicBezTo>
                  <a:lnTo>
                    <a:pt x="113089" y="1124238"/>
                  </a:lnTo>
                  <a:cubicBezTo>
                    <a:pt x="50632" y="1124238"/>
                    <a:pt x="0" y="1073606"/>
                    <a:pt x="0" y="1011148"/>
                  </a:cubicBezTo>
                  <a:lnTo>
                    <a:pt x="0" y="113089"/>
                  </a:lnTo>
                  <a:cubicBezTo>
                    <a:pt x="0" y="50632"/>
                    <a:pt x="50632" y="0"/>
                    <a:pt x="113089" y="0"/>
                  </a:cubicBezTo>
                  <a:close/>
                </a:path>
              </a:pathLst>
            </a:custGeom>
            <a:blipFill>
              <a:blip r:embed="rId3"/>
              <a:stretch>
                <a:fillRect l="-53643" r="-53643"/>
              </a:stretch>
            </a:blipFill>
          </p:spPr>
        </p:sp>
      </p:grpSp>
      <p:grpSp>
        <p:nvGrpSpPr>
          <p:cNvPr id="4" name="Group 4"/>
          <p:cNvGrpSpPr/>
          <p:nvPr/>
        </p:nvGrpSpPr>
        <p:grpSpPr>
          <a:xfrm>
            <a:off x="11345652" y="-616906"/>
            <a:ext cx="2356765" cy="235676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6" name="TextBox 6"/>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sp>
        <p:nvSpPr>
          <p:cNvPr id="7" name="Freeform 7"/>
          <p:cNvSpPr/>
          <p:nvPr/>
        </p:nvSpPr>
        <p:spPr>
          <a:xfrm>
            <a:off x="11714612" y="8035678"/>
            <a:ext cx="3098851" cy="3098851"/>
          </a:xfrm>
          <a:custGeom>
            <a:avLst/>
            <a:gdLst/>
            <a:ahLst/>
            <a:cxnLst/>
            <a:rect l="l" t="t" r="r" b="b"/>
            <a:pathLst>
              <a:path w="3098851" h="3098851">
                <a:moveTo>
                  <a:pt x="0" y="0"/>
                </a:moveTo>
                <a:lnTo>
                  <a:pt x="3098851" y="0"/>
                </a:lnTo>
                <a:lnTo>
                  <a:pt x="3098851" y="3098852"/>
                </a:lnTo>
                <a:lnTo>
                  <a:pt x="0" y="3098852"/>
                </a:lnTo>
                <a:lnTo>
                  <a:pt x="0" y="0"/>
                </a:lnTo>
                <a:close/>
              </a:path>
            </a:pathLst>
          </a:custGeom>
          <a:blipFill>
            <a:blip r:embed="rId4"/>
            <a:stretch>
              <a:fillRect/>
            </a:stretch>
          </a:blipFill>
        </p:spPr>
      </p:sp>
      <p:sp>
        <p:nvSpPr>
          <p:cNvPr id="8" name="Freeform 8"/>
          <p:cNvSpPr/>
          <p:nvPr/>
        </p:nvSpPr>
        <p:spPr>
          <a:xfrm>
            <a:off x="11196774" y="8466634"/>
            <a:ext cx="1009321" cy="1009321"/>
          </a:xfrm>
          <a:custGeom>
            <a:avLst/>
            <a:gdLst/>
            <a:ahLst/>
            <a:cxnLst/>
            <a:rect l="l" t="t" r="r" b="b"/>
            <a:pathLst>
              <a:path w="1009321" h="1009321">
                <a:moveTo>
                  <a:pt x="0" y="0"/>
                </a:moveTo>
                <a:lnTo>
                  <a:pt x="1009321" y="0"/>
                </a:lnTo>
                <a:lnTo>
                  <a:pt x="1009321" y="1009322"/>
                </a:lnTo>
                <a:lnTo>
                  <a:pt x="0" y="1009322"/>
                </a:lnTo>
                <a:lnTo>
                  <a:pt x="0" y="0"/>
                </a:lnTo>
                <a:close/>
              </a:path>
            </a:pathLst>
          </a:custGeom>
          <a:blipFill>
            <a:blip r:embed="rId4"/>
            <a:stretch>
              <a:fillRect/>
            </a:stretch>
          </a:blipFill>
        </p:spPr>
      </p:sp>
      <p:grpSp>
        <p:nvGrpSpPr>
          <p:cNvPr id="9" name="Group 9"/>
          <p:cNvGrpSpPr/>
          <p:nvPr/>
        </p:nvGrpSpPr>
        <p:grpSpPr>
          <a:xfrm>
            <a:off x="10926102" y="634871"/>
            <a:ext cx="788509" cy="787658"/>
            <a:chOff x="0" y="0"/>
            <a:chExt cx="812800" cy="811923"/>
          </a:xfrm>
        </p:grpSpPr>
        <p:sp>
          <p:nvSpPr>
            <p:cNvPr id="10" name="Freeform 10"/>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11" name="TextBox 11"/>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grpSp>
        <p:nvGrpSpPr>
          <p:cNvPr id="12" name="Group 12"/>
          <p:cNvGrpSpPr/>
          <p:nvPr/>
        </p:nvGrpSpPr>
        <p:grpSpPr>
          <a:xfrm>
            <a:off x="11448507" y="9974542"/>
            <a:ext cx="770766" cy="769934"/>
            <a:chOff x="0" y="0"/>
            <a:chExt cx="812800" cy="811923"/>
          </a:xfrm>
        </p:grpSpPr>
        <p:sp>
          <p:nvSpPr>
            <p:cNvPr id="13" name="Freeform 13"/>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14" name="TextBox 14"/>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15" name="Freeform 15"/>
          <p:cNvSpPr/>
          <p:nvPr/>
        </p:nvSpPr>
        <p:spPr>
          <a:xfrm>
            <a:off x="3578008" y="2667474"/>
            <a:ext cx="5041995" cy="5041995"/>
          </a:xfrm>
          <a:custGeom>
            <a:avLst/>
            <a:gdLst/>
            <a:ahLst/>
            <a:cxnLst/>
            <a:rect l="l" t="t" r="r" b="b"/>
            <a:pathLst>
              <a:path w="5041995" h="5041995">
                <a:moveTo>
                  <a:pt x="0" y="0"/>
                </a:moveTo>
                <a:lnTo>
                  <a:pt x="5041995" y="0"/>
                </a:lnTo>
                <a:lnTo>
                  <a:pt x="5041995" y="5041996"/>
                </a:lnTo>
                <a:lnTo>
                  <a:pt x="0" y="5041996"/>
                </a:lnTo>
                <a:lnTo>
                  <a:pt x="0" y="0"/>
                </a:lnTo>
                <a:close/>
              </a:path>
            </a:pathLst>
          </a:custGeom>
          <a:blipFill>
            <a:blip r:embed="rId5">
              <a:alphaModFix amt="2000"/>
              <a:extLst>
                <a:ext uri="{96DAC541-7B7A-43D3-8B79-37D633B846F1}">
                  <asvg:svgBlip xmlns:asvg="http://schemas.microsoft.com/office/drawing/2016/SVG/main" r:embed="rId6"/>
                </a:ext>
              </a:extLst>
            </a:blip>
            <a:stretch>
              <a:fillRect/>
            </a:stretch>
          </a:blipFill>
        </p:spPr>
      </p:sp>
      <p:grpSp>
        <p:nvGrpSpPr>
          <p:cNvPr id="16" name="Group 16"/>
          <p:cNvGrpSpPr/>
          <p:nvPr/>
        </p:nvGrpSpPr>
        <p:grpSpPr>
          <a:xfrm>
            <a:off x="4638875" y="4632866"/>
            <a:ext cx="1757395" cy="175739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18" name="TextBox 18"/>
            <p:cNvSpPr txBox="1"/>
            <p:nvPr/>
          </p:nvSpPr>
          <p:spPr>
            <a:xfrm>
              <a:off x="76200" y="9525"/>
              <a:ext cx="660400" cy="727075"/>
            </a:xfrm>
            <a:prstGeom prst="rect">
              <a:avLst/>
            </a:prstGeom>
          </p:spPr>
          <p:txBody>
            <a:bodyPr lIns="50800" tIns="50800" rIns="50800" bIns="50800" rtlCol="0" anchor="ctr"/>
            <a:lstStyle/>
            <a:p>
              <a:pPr algn="ctr">
                <a:lnSpc>
                  <a:spcPts val="3155"/>
                </a:lnSpc>
              </a:pPr>
              <a:endParaRPr/>
            </a:p>
          </p:txBody>
        </p:sp>
      </p:grpSp>
      <p:sp>
        <p:nvSpPr>
          <p:cNvPr id="19" name="Freeform 19"/>
          <p:cNvSpPr/>
          <p:nvPr/>
        </p:nvSpPr>
        <p:spPr>
          <a:xfrm>
            <a:off x="5818053" y="5239810"/>
            <a:ext cx="389539" cy="506717"/>
          </a:xfrm>
          <a:custGeom>
            <a:avLst/>
            <a:gdLst/>
            <a:ahLst/>
            <a:cxnLst/>
            <a:rect l="l" t="t" r="r" b="b"/>
            <a:pathLst>
              <a:path w="389539" h="506717">
                <a:moveTo>
                  <a:pt x="0" y="0"/>
                </a:moveTo>
                <a:lnTo>
                  <a:pt x="389539" y="0"/>
                </a:lnTo>
                <a:lnTo>
                  <a:pt x="389539" y="506718"/>
                </a:lnTo>
                <a:lnTo>
                  <a:pt x="0" y="5067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TextBox 20"/>
          <p:cNvSpPr txBox="1"/>
          <p:nvPr/>
        </p:nvSpPr>
        <p:spPr>
          <a:xfrm>
            <a:off x="717854" y="1057275"/>
            <a:ext cx="6312578" cy="818652"/>
          </a:xfrm>
          <a:prstGeom prst="rect">
            <a:avLst/>
          </a:prstGeom>
        </p:spPr>
        <p:txBody>
          <a:bodyPr lIns="0" tIns="0" rIns="0" bIns="0" rtlCol="0" anchor="t">
            <a:spAutoFit/>
          </a:bodyPr>
          <a:lstStyle/>
          <a:p>
            <a:pPr algn="l">
              <a:lnSpc>
                <a:spcPts val="5824"/>
              </a:lnSpc>
            </a:pPr>
            <a:r>
              <a:rPr lang="en-US" sz="5600" b="1" spc="117">
                <a:solidFill>
                  <a:srgbClr val="000000"/>
                </a:solidFill>
                <a:latin typeface="Poppins Bold"/>
                <a:ea typeface="Poppins Bold"/>
                <a:cs typeface="Poppins Bold"/>
                <a:sym typeface="Poppins Bold"/>
              </a:rPr>
              <a:t>Did You Know?</a:t>
            </a:r>
          </a:p>
        </p:txBody>
      </p:sp>
      <p:sp>
        <p:nvSpPr>
          <p:cNvPr id="21" name="TextBox 21"/>
          <p:cNvSpPr txBox="1"/>
          <p:nvPr/>
        </p:nvSpPr>
        <p:spPr>
          <a:xfrm>
            <a:off x="4802766" y="5222140"/>
            <a:ext cx="1133857" cy="608756"/>
          </a:xfrm>
          <a:prstGeom prst="rect">
            <a:avLst/>
          </a:prstGeom>
        </p:spPr>
        <p:txBody>
          <a:bodyPr lIns="0" tIns="0" rIns="0" bIns="0" rtlCol="0" anchor="t">
            <a:spAutoFit/>
          </a:bodyPr>
          <a:lstStyle/>
          <a:p>
            <a:pPr algn="ctr">
              <a:lnSpc>
                <a:spcPts val="4984"/>
              </a:lnSpc>
            </a:pPr>
            <a:r>
              <a:rPr lang="en-US" sz="3560" b="1" dirty="0">
                <a:solidFill>
                  <a:srgbClr val="000000"/>
                </a:solidFill>
                <a:latin typeface="Poppins Medium"/>
                <a:ea typeface="Poppins Medium"/>
                <a:cs typeface="Poppins Medium"/>
                <a:sym typeface="Poppins Medium"/>
              </a:rPr>
              <a:t>39%</a:t>
            </a:r>
          </a:p>
        </p:txBody>
      </p:sp>
      <p:sp>
        <p:nvSpPr>
          <p:cNvPr id="22" name="TextBox 22"/>
          <p:cNvSpPr txBox="1"/>
          <p:nvPr/>
        </p:nvSpPr>
        <p:spPr>
          <a:xfrm>
            <a:off x="1378989" y="3785742"/>
            <a:ext cx="8723628" cy="523968"/>
          </a:xfrm>
          <a:prstGeom prst="rect">
            <a:avLst/>
          </a:prstGeom>
        </p:spPr>
        <p:txBody>
          <a:bodyPr lIns="0" tIns="0" rIns="0" bIns="0" rtlCol="0" anchor="t">
            <a:spAutoFit/>
          </a:bodyPr>
          <a:lstStyle/>
          <a:p>
            <a:pPr algn="just">
              <a:lnSpc>
                <a:spcPts val="4194"/>
              </a:lnSpc>
            </a:pPr>
            <a:r>
              <a:rPr lang="en-US" sz="2996">
                <a:solidFill>
                  <a:srgbClr val="000000"/>
                </a:solidFill>
                <a:latin typeface="Poppins"/>
                <a:ea typeface="Poppins"/>
                <a:cs typeface="Poppins"/>
                <a:sym typeface="Poppins"/>
              </a:rPr>
              <a:t>December is the riskiest month for accidents</a:t>
            </a:r>
          </a:p>
        </p:txBody>
      </p:sp>
      <p:sp>
        <p:nvSpPr>
          <p:cNvPr id="23" name="TextBox 23"/>
          <p:cNvSpPr txBox="1"/>
          <p:nvPr/>
        </p:nvSpPr>
        <p:spPr>
          <a:xfrm>
            <a:off x="3358946" y="6628386"/>
            <a:ext cx="4763713" cy="542925"/>
          </a:xfrm>
          <a:prstGeom prst="rect">
            <a:avLst/>
          </a:prstGeom>
        </p:spPr>
        <p:txBody>
          <a:bodyPr lIns="0" tIns="0" rIns="0" bIns="0" rtlCol="0" anchor="t">
            <a:spAutoFit/>
          </a:bodyPr>
          <a:lstStyle/>
          <a:p>
            <a:pPr algn="just">
              <a:lnSpc>
                <a:spcPts val="4200"/>
              </a:lnSpc>
            </a:pPr>
            <a:r>
              <a:rPr lang="en-US" sz="3000">
                <a:solidFill>
                  <a:srgbClr val="000000"/>
                </a:solidFill>
                <a:latin typeface="Poppins"/>
                <a:ea typeface="Poppins"/>
                <a:cs typeface="Poppins"/>
                <a:sym typeface="Poppins"/>
              </a:rPr>
              <a:t>than the average month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AutoShape 2"/>
          <p:cNvSpPr/>
          <p:nvPr/>
        </p:nvSpPr>
        <p:spPr>
          <a:xfrm>
            <a:off x="5772779" y="7003753"/>
            <a:ext cx="4135837" cy="0"/>
          </a:xfrm>
          <a:prstGeom prst="line">
            <a:avLst/>
          </a:prstGeom>
          <a:ln w="38100" cap="flat">
            <a:solidFill>
              <a:srgbClr val="000000"/>
            </a:solidFill>
            <a:prstDash val="sysDash"/>
            <a:headEnd type="none" w="sm" len="sm"/>
            <a:tailEnd type="none" w="sm" len="sm"/>
          </a:ln>
        </p:spPr>
      </p:sp>
      <p:grpSp>
        <p:nvGrpSpPr>
          <p:cNvPr id="3" name="Group 3"/>
          <p:cNvGrpSpPr/>
          <p:nvPr/>
        </p:nvGrpSpPr>
        <p:grpSpPr>
          <a:xfrm>
            <a:off x="4167878" y="5657943"/>
            <a:ext cx="2517857" cy="2451231"/>
            <a:chOff x="0" y="0"/>
            <a:chExt cx="834892" cy="812800"/>
          </a:xfrm>
        </p:grpSpPr>
        <p:sp>
          <p:nvSpPr>
            <p:cNvPr id="4" name="Freeform 4"/>
            <p:cNvSpPr/>
            <p:nvPr/>
          </p:nvSpPr>
          <p:spPr>
            <a:xfrm>
              <a:off x="0" y="0"/>
              <a:ext cx="834892" cy="812800"/>
            </a:xfrm>
            <a:custGeom>
              <a:avLst/>
              <a:gdLst/>
              <a:ahLst/>
              <a:cxnLst/>
              <a:rect l="l" t="t" r="r" b="b"/>
              <a:pathLst>
                <a:path w="834892" h="812800">
                  <a:moveTo>
                    <a:pt x="417446" y="0"/>
                  </a:moveTo>
                  <a:cubicBezTo>
                    <a:pt x="186897" y="0"/>
                    <a:pt x="0" y="181951"/>
                    <a:pt x="0" y="406400"/>
                  </a:cubicBezTo>
                  <a:cubicBezTo>
                    <a:pt x="0" y="630849"/>
                    <a:pt x="186897" y="812800"/>
                    <a:pt x="417446" y="812800"/>
                  </a:cubicBezTo>
                  <a:cubicBezTo>
                    <a:pt x="647995" y="812800"/>
                    <a:pt x="834892" y="630849"/>
                    <a:pt x="834892" y="406400"/>
                  </a:cubicBezTo>
                  <a:cubicBezTo>
                    <a:pt x="834892" y="181951"/>
                    <a:pt x="647995" y="0"/>
                    <a:pt x="417446" y="0"/>
                  </a:cubicBezTo>
                  <a:close/>
                </a:path>
              </a:pathLst>
            </a:custGeom>
            <a:solidFill>
              <a:srgbClr val="F8D133"/>
            </a:solidFill>
          </p:spPr>
        </p:sp>
        <p:sp>
          <p:nvSpPr>
            <p:cNvPr id="5" name="TextBox 5"/>
            <p:cNvSpPr txBox="1"/>
            <p:nvPr/>
          </p:nvSpPr>
          <p:spPr>
            <a:xfrm>
              <a:off x="78271" y="9525"/>
              <a:ext cx="678350" cy="727075"/>
            </a:xfrm>
            <a:prstGeom prst="rect">
              <a:avLst/>
            </a:prstGeom>
          </p:spPr>
          <p:txBody>
            <a:bodyPr lIns="50800" tIns="50800" rIns="50800" bIns="50800" rtlCol="0" anchor="ctr"/>
            <a:lstStyle/>
            <a:p>
              <a:pPr algn="ctr">
                <a:lnSpc>
                  <a:spcPts val="3015"/>
                </a:lnSpc>
              </a:pPr>
              <a:endParaRPr/>
            </a:p>
          </p:txBody>
        </p:sp>
      </p:grpSp>
      <p:grpSp>
        <p:nvGrpSpPr>
          <p:cNvPr id="6" name="Group 6"/>
          <p:cNvGrpSpPr/>
          <p:nvPr/>
        </p:nvGrpSpPr>
        <p:grpSpPr>
          <a:xfrm>
            <a:off x="8664911" y="6109127"/>
            <a:ext cx="1838179" cy="1789254"/>
            <a:chOff x="0" y="0"/>
            <a:chExt cx="835025" cy="812800"/>
          </a:xfrm>
        </p:grpSpPr>
        <p:sp>
          <p:nvSpPr>
            <p:cNvPr id="7" name="Freeform 7"/>
            <p:cNvSpPr/>
            <p:nvPr/>
          </p:nvSpPr>
          <p:spPr>
            <a:xfrm>
              <a:off x="0" y="0"/>
              <a:ext cx="835025" cy="812800"/>
            </a:xfrm>
            <a:custGeom>
              <a:avLst/>
              <a:gdLst/>
              <a:ahLst/>
              <a:cxnLst/>
              <a:rect l="l" t="t" r="r" b="b"/>
              <a:pathLst>
                <a:path w="835025" h="812800">
                  <a:moveTo>
                    <a:pt x="417512" y="0"/>
                  </a:moveTo>
                  <a:cubicBezTo>
                    <a:pt x="186927" y="0"/>
                    <a:pt x="0" y="181951"/>
                    <a:pt x="0" y="406400"/>
                  </a:cubicBezTo>
                  <a:cubicBezTo>
                    <a:pt x="0" y="630849"/>
                    <a:pt x="186927" y="812800"/>
                    <a:pt x="417512" y="812800"/>
                  </a:cubicBezTo>
                  <a:cubicBezTo>
                    <a:pt x="648098" y="812800"/>
                    <a:pt x="835025" y="630849"/>
                    <a:pt x="835025" y="406400"/>
                  </a:cubicBezTo>
                  <a:cubicBezTo>
                    <a:pt x="835025" y="181951"/>
                    <a:pt x="648098" y="0"/>
                    <a:pt x="417512" y="0"/>
                  </a:cubicBezTo>
                  <a:close/>
                </a:path>
              </a:pathLst>
            </a:custGeom>
            <a:solidFill>
              <a:srgbClr val="F8D133"/>
            </a:solidFill>
          </p:spPr>
        </p:sp>
        <p:sp>
          <p:nvSpPr>
            <p:cNvPr id="8" name="TextBox 8"/>
            <p:cNvSpPr txBox="1"/>
            <p:nvPr/>
          </p:nvSpPr>
          <p:spPr>
            <a:xfrm>
              <a:off x="78284" y="9525"/>
              <a:ext cx="678458" cy="727075"/>
            </a:xfrm>
            <a:prstGeom prst="rect">
              <a:avLst/>
            </a:prstGeom>
          </p:spPr>
          <p:txBody>
            <a:bodyPr lIns="50800" tIns="50800" rIns="50800" bIns="50800" rtlCol="0" anchor="ctr"/>
            <a:lstStyle/>
            <a:p>
              <a:pPr algn="ctr">
                <a:lnSpc>
                  <a:spcPts val="3015"/>
                </a:lnSpc>
              </a:pPr>
              <a:endParaRPr/>
            </a:p>
          </p:txBody>
        </p:sp>
      </p:grpSp>
      <p:grpSp>
        <p:nvGrpSpPr>
          <p:cNvPr id="9" name="Group 9"/>
          <p:cNvGrpSpPr/>
          <p:nvPr/>
        </p:nvGrpSpPr>
        <p:grpSpPr>
          <a:xfrm>
            <a:off x="4297331" y="7972251"/>
            <a:ext cx="2530667" cy="632376"/>
            <a:chOff x="0" y="0"/>
            <a:chExt cx="1555294" cy="388645"/>
          </a:xfrm>
        </p:grpSpPr>
        <p:sp>
          <p:nvSpPr>
            <p:cNvPr id="10" name="Freeform 10"/>
            <p:cNvSpPr/>
            <p:nvPr/>
          </p:nvSpPr>
          <p:spPr>
            <a:xfrm>
              <a:off x="0" y="0"/>
              <a:ext cx="1555294" cy="388645"/>
            </a:xfrm>
            <a:custGeom>
              <a:avLst/>
              <a:gdLst/>
              <a:ahLst/>
              <a:cxnLst/>
              <a:rect l="l" t="t" r="r" b="b"/>
              <a:pathLst>
                <a:path w="1555294" h="388645">
                  <a:moveTo>
                    <a:pt x="1352094" y="0"/>
                  </a:moveTo>
                  <a:cubicBezTo>
                    <a:pt x="1464318" y="0"/>
                    <a:pt x="1555294" y="87001"/>
                    <a:pt x="1555294" y="194322"/>
                  </a:cubicBezTo>
                  <a:cubicBezTo>
                    <a:pt x="1555294" y="301644"/>
                    <a:pt x="1464318" y="388645"/>
                    <a:pt x="1352094" y="388645"/>
                  </a:cubicBezTo>
                  <a:lnTo>
                    <a:pt x="203200" y="388645"/>
                  </a:lnTo>
                  <a:cubicBezTo>
                    <a:pt x="90976" y="388645"/>
                    <a:pt x="0" y="301644"/>
                    <a:pt x="0" y="194322"/>
                  </a:cubicBezTo>
                  <a:cubicBezTo>
                    <a:pt x="0" y="87001"/>
                    <a:pt x="90976" y="0"/>
                    <a:pt x="203200" y="0"/>
                  </a:cubicBezTo>
                  <a:close/>
                </a:path>
              </a:pathLst>
            </a:custGeom>
            <a:solidFill>
              <a:srgbClr val="F1F0EF">
                <a:alpha val="87843"/>
              </a:srgbClr>
            </a:solidFill>
          </p:spPr>
        </p:sp>
        <p:sp>
          <p:nvSpPr>
            <p:cNvPr id="11" name="TextBox 11"/>
            <p:cNvSpPr txBox="1"/>
            <p:nvPr/>
          </p:nvSpPr>
          <p:spPr>
            <a:xfrm>
              <a:off x="0" y="-19050"/>
              <a:ext cx="1555294" cy="407695"/>
            </a:xfrm>
            <a:prstGeom prst="rect">
              <a:avLst/>
            </a:prstGeom>
          </p:spPr>
          <p:txBody>
            <a:bodyPr lIns="50800" tIns="50800" rIns="50800" bIns="50800" rtlCol="0" anchor="ctr"/>
            <a:lstStyle/>
            <a:p>
              <a:pPr algn="ctr">
                <a:lnSpc>
                  <a:spcPts val="2079"/>
                </a:lnSpc>
              </a:pPr>
              <a:endParaRPr/>
            </a:p>
          </p:txBody>
        </p:sp>
      </p:grpSp>
      <p:grpSp>
        <p:nvGrpSpPr>
          <p:cNvPr id="12" name="Group 12"/>
          <p:cNvGrpSpPr/>
          <p:nvPr/>
        </p:nvGrpSpPr>
        <p:grpSpPr>
          <a:xfrm>
            <a:off x="4167878" y="3556179"/>
            <a:ext cx="6911560" cy="711399"/>
            <a:chOff x="0" y="0"/>
            <a:chExt cx="3142252" cy="323428"/>
          </a:xfrm>
        </p:grpSpPr>
        <p:sp>
          <p:nvSpPr>
            <p:cNvPr id="13" name="Freeform 13"/>
            <p:cNvSpPr/>
            <p:nvPr/>
          </p:nvSpPr>
          <p:spPr>
            <a:xfrm>
              <a:off x="0" y="0"/>
              <a:ext cx="3142252" cy="323428"/>
            </a:xfrm>
            <a:custGeom>
              <a:avLst/>
              <a:gdLst/>
              <a:ahLst/>
              <a:cxnLst/>
              <a:rect l="l" t="t" r="r" b="b"/>
              <a:pathLst>
                <a:path w="3142252" h="323428">
                  <a:moveTo>
                    <a:pt x="2939052" y="0"/>
                  </a:moveTo>
                  <a:cubicBezTo>
                    <a:pt x="3051276" y="0"/>
                    <a:pt x="3142252" y="72402"/>
                    <a:pt x="3142252" y="161714"/>
                  </a:cubicBezTo>
                  <a:cubicBezTo>
                    <a:pt x="3142252" y="251026"/>
                    <a:pt x="3051276" y="323428"/>
                    <a:pt x="2939052" y="323428"/>
                  </a:cubicBezTo>
                  <a:lnTo>
                    <a:pt x="203200" y="323428"/>
                  </a:lnTo>
                  <a:cubicBezTo>
                    <a:pt x="90976" y="323428"/>
                    <a:pt x="0" y="251026"/>
                    <a:pt x="0" y="161714"/>
                  </a:cubicBezTo>
                  <a:cubicBezTo>
                    <a:pt x="0" y="72402"/>
                    <a:pt x="90976" y="0"/>
                    <a:pt x="203200" y="0"/>
                  </a:cubicBezTo>
                  <a:close/>
                </a:path>
              </a:pathLst>
            </a:custGeom>
            <a:solidFill>
              <a:srgbClr val="F1F0EF">
                <a:alpha val="87843"/>
              </a:srgbClr>
            </a:solidFill>
          </p:spPr>
        </p:sp>
        <p:sp>
          <p:nvSpPr>
            <p:cNvPr id="14" name="TextBox 14"/>
            <p:cNvSpPr txBox="1"/>
            <p:nvPr/>
          </p:nvSpPr>
          <p:spPr>
            <a:xfrm>
              <a:off x="0" y="-19050"/>
              <a:ext cx="3142252" cy="342478"/>
            </a:xfrm>
            <a:prstGeom prst="rect">
              <a:avLst/>
            </a:prstGeom>
          </p:spPr>
          <p:txBody>
            <a:bodyPr lIns="50800" tIns="50800" rIns="50800" bIns="50800" rtlCol="0" anchor="ctr"/>
            <a:lstStyle/>
            <a:p>
              <a:pPr algn="ctr">
                <a:lnSpc>
                  <a:spcPts val="2079"/>
                </a:lnSpc>
              </a:pPr>
              <a:endParaRPr/>
            </a:p>
          </p:txBody>
        </p:sp>
      </p:grpSp>
      <p:grpSp>
        <p:nvGrpSpPr>
          <p:cNvPr id="15" name="Group 15"/>
          <p:cNvGrpSpPr/>
          <p:nvPr/>
        </p:nvGrpSpPr>
        <p:grpSpPr>
          <a:xfrm>
            <a:off x="10803028" y="6764295"/>
            <a:ext cx="2218043" cy="435660"/>
            <a:chOff x="0" y="0"/>
            <a:chExt cx="1714504" cy="336756"/>
          </a:xfrm>
        </p:grpSpPr>
        <p:sp>
          <p:nvSpPr>
            <p:cNvPr id="16" name="Freeform 16"/>
            <p:cNvSpPr/>
            <p:nvPr/>
          </p:nvSpPr>
          <p:spPr>
            <a:xfrm>
              <a:off x="0" y="0"/>
              <a:ext cx="1714504" cy="336756"/>
            </a:xfrm>
            <a:custGeom>
              <a:avLst/>
              <a:gdLst/>
              <a:ahLst/>
              <a:cxnLst/>
              <a:rect l="l" t="t" r="r" b="b"/>
              <a:pathLst>
                <a:path w="1714504" h="336756">
                  <a:moveTo>
                    <a:pt x="1511304" y="0"/>
                  </a:moveTo>
                  <a:cubicBezTo>
                    <a:pt x="1623528" y="0"/>
                    <a:pt x="1714504" y="75385"/>
                    <a:pt x="1714504" y="168378"/>
                  </a:cubicBezTo>
                  <a:cubicBezTo>
                    <a:pt x="1714504" y="261371"/>
                    <a:pt x="1623528" y="336756"/>
                    <a:pt x="1511304" y="336756"/>
                  </a:cubicBezTo>
                  <a:lnTo>
                    <a:pt x="203200" y="336756"/>
                  </a:lnTo>
                  <a:cubicBezTo>
                    <a:pt x="90976" y="336756"/>
                    <a:pt x="0" y="261371"/>
                    <a:pt x="0" y="168378"/>
                  </a:cubicBezTo>
                  <a:cubicBezTo>
                    <a:pt x="0" y="75385"/>
                    <a:pt x="90976" y="0"/>
                    <a:pt x="203200" y="0"/>
                  </a:cubicBezTo>
                  <a:close/>
                </a:path>
              </a:pathLst>
            </a:custGeom>
            <a:solidFill>
              <a:srgbClr val="F1F0EF">
                <a:alpha val="87843"/>
              </a:srgbClr>
            </a:solidFill>
          </p:spPr>
        </p:sp>
        <p:sp>
          <p:nvSpPr>
            <p:cNvPr id="17" name="TextBox 17"/>
            <p:cNvSpPr txBox="1"/>
            <p:nvPr/>
          </p:nvSpPr>
          <p:spPr>
            <a:xfrm>
              <a:off x="0" y="-19050"/>
              <a:ext cx="1714504" cy="355806"/>
            </a:xfrm>
            <a:prstGeom prst="rect">
              <a:avLst/>
            </a:prstGeom>
          </p:spPr>
          <p:txBody>
            <a:bodyPr lIns="50800" tIns="50800" rIns="50800" bIns="50800" rtlCol="0" anchor="ctr"/>
            <a:lstStyle/>
            <a:p>
              <a:pPr algn="ctr">
                <a:lnSpc>
                  <a:spcPts val="2079"/>
                </a:lnSpc>
              </a:pPr>
              <a:endParaRPr/>
            </a:p>
          </p:txBody>
        </p:sp>
      </p:grpSp>
      <p:grpSp>
        <p:nvGrpSpPr>
          <p:cNvPr id="18" name="Group 18"/>
          <p:cNvGrpSpPr/>
          <p:nvPr/>
        </p:nvGrpSpPr>
        <p:grpSpPr>
          <a:xfrm>
            <a:off x="12063580" y="-698391"/>
            <a:ext cx="2181682" cy="218168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20" name="TextBox 20"/>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sp>
        <p:nvSpPr>
          <p:cNvPr id="21" name="Freeform 21"/>
          <p:cNvSpPr/>
          <p:nvPr/>
        </p:nvSpPr>
        <p:spPr>
          <a:xfrm>
            <a:off x="13809595" y="-2395998"/>
            <a:ext cx="4692701" cy="4692701"/>
          </a:xfrm>
          <a:custGeom>
            <a:avLst/>
            <a:gdLst/>
            <a:ahLst/>
            <a:cxnLst/>
            <a:rect l="l" t="t" r="r" b="b"/>
            <a:pathLst>
              <a:path w="4692701" h="4692701">
                <a:moveTo>
                  <a:pt x="0" y="0"/>
                </a:moveTo>
                <a:lnTo>
                  <a:pt x="4692701" y="0"/>
                </a:lnTo>
                <a:lnTo>
                  <a:pt x="4692701" y="4692701"/>
                </a:lnTo>
                <a:lnTo>
                  <a:pt x="0" y="4692701"/>
                </a:lnTo>
                <a:lnTo>
                  <a:pt x="0" y="0"/>
                </a:lnTo>
                <a:close/>
              </a:path>
            </a:pathLst>
          </a:custGeom>
          <a:blipFill>
            <a:blip r:embed="rId3"/>
            <a:stretch>
              <a:fillRect/>
            </a:stretch>
          </a:blipFill>
        </p:spPr>
      </p:sp>
      <p:grpSp>
        <p:nvGrpSpPr>
          <p:cNvPr id="22" name="Group 22"/>
          <p:cNvGrpSpPr/>
          <p:nvPr/>
        </p:nvGrpSpPr>
        <p:grpSpPr>
          <a:xfrm>
            <a:off x="16682644" y="1627994"/>
            <a:ext cx="913693" cy="912707"/>
            <a:chOff x="0" y="0"/>
            <a:chExt cx="812800" cy="811923"/>
          </a:xfrm>
        </p:grpSpPr>
        <p:sp>
          <p:nvSpPr>
            <p:cNvPr id="23" name="Freeform 23"/>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24" name="TextBox 24"/>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25" name="Freeform 25"/>
          <p:cNvSpPr/>
          <p:nvPr/>
        </p:nvSpPr>
        <p:spPr>
          <a:xfrm>
            <a:off x="13959310" y="5196515"/>
            <a:ext cx="3761402" cy="2999718"/>
          </a:xfrm>
          <a:custGeom>
            <a:avLst/>
            <a:gdLst/>
            <a:ahLst/>
            <a:cxnLst/>
            <a:rect l="l" t="t" r="r" b="b"/>
            <a:pathLst>
              <a:path w="3761402" h="2999718">
                <a:moveTo>
                  <a:pt x="0" y="0"/>
                </a:moveTo>
                <a:lnTo>
                  <a:pt x="3761402" y="0"/>
                </a:lnTo>
                <a:lnTo>
                  <a:pt x="3761402" y="2999718"/>
                </a:lnTo>
                <a:lnTo>
                  <a:pt x="0" y="2999718"/>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sp>
      <p:sp>
        <p:nvSpPr>
          <p:cNvPr id="26" name="TextBox 26"/>
          <p:cNvSpPr txBox="1"/>
          <p:nvPr/>
        </p:nvSpPr>
        <p:spPr>
          <a:xfrm>
            <a:off x="640714" y="622198"/>
            <a:ext cx="6312578" cy="1674505"/>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Project</a:t>
            </a:r>
          </a:p>
          <a:p>
            <a:pPr algn="l">
              <a:lnSpc>
                <a:spcPts val="6240"/>
              </a:lnSpc>
            </a:pPr>
            <a:r>
              <a:rPr lang="en-US" sz="6000" b="1" spc="126">
                <a:solidFill>
                  <a:srgbClr val="000000"/>
                </a:solidFill>
                <a:latin typeface="Poppins Bold"/>
                <a:ea typeface="Poppins Bold"/>
                <a:cs typeface="Poppins Bold"/>
                <a:sym typeface="Poppins Bold"/>
              </a:rPr>
              <a:t>Overview</a:t>
            </a:r>
          </a:p>
        </p:txBody>
      </p:sp>
      <p:sp>
        <p:nvSpPr>
          <p:cNvPr id="27" name="TextBox 27"/>
          <p:cNvSpPr txBox="1"/>
          <p:nvPr/>
        </p:nvSpPr>
        <p:spPr>
          <a:xfrm>
            <a:off x="9124296" y="6457676"/>
            <a:ext cx="919410" cy="672996"/>
          </a:xfrm>
          <a:prstGeom prst="rect">
            <a:avLst/>
          </a:prstGeom>
        </p:spPr>
        <p:txBody>
          <a:bodyPr lIns="0" tIns="0" rIns="0" bIns="0" rtlCol="0" anchor="t">
            <a:spAutoFit/>
          </a:bodyPr>
          <a:lstStyle/>
          <a:p>
            <a:pPr algn="ctr">
              <a:lnSpc>
                <a:spcPts val="5263"/>
              </a:lnSpc>
            </a:pPr>
            <a:r>
              <a:rPr lang="en-US" sz="3759" b="1">
                <a:solidFill>
                  <a:srgbClr val="000000"/>
                </a:solidFill>
                <a:latin typeface="Poppins Bold"/>
                <a:ea typeface="Poppins Bold"/>
                <a:cs typeface="Poppins Bold"/>
                <a:sym typeface="Poppins Bold"/>
              </a:rPr>
              <a:t>49</a:t>
            </a:r>
          </a:p>
        </p:txBody>
      </p:sp>
      <p:sp>
        <p:nvSpPr>
          <p:cNvPr id="28" name="TextBox 28"/>
          <p:cNvSpPr txBox="1"/>
          <p:nvPr/>
        </p:nvSpPr>
        <p:spPr>
          <a:xfrm>
            <a:off x="8917864" y="7097796"/>
            <a:ext cx="1332273" cy="311287"/>
          </a:xfrm>
          <a:prstGeom prst="rect">
            <a:avLst/>
          </a:prstGeom>
        </p:spPr>
        <p:txBody>
          <a:bodyPr lIns="0" tIns="0" rIns="0" bIns="0" rtlCol="0" anchor="t">
            <a:spAutoFit/>
          </a:bodyPr>
          <a:lstStyle/>
          <a:p>
            <a:pPr algn="ctr">
              <a:lnSpc>
                <a:spcPts val="2436"/>
              </a:lnSpc>
            </a:pPr>
            <a:r>
              <a:rPr lang="en-US" sz="1740">
                <a:solidFill>
                  <a:srgbClr val="000000"/>
                </a:solidFill>
                <a:latin typeface="Poppins"/>
                <a:ea typeface="Poppins"/>
                <a:cs typeface="Poppins"/>
                <a:sym typeface="Poppins"/>
              </a:rPr>
              <a:t>US States</a:t>
            </a:r>
          </a:p>
        </p:txBody>
      </p:sp>
      <p:sp>
        <p:nvSpPr>
          <p:cNvPr id="29" name="TextBox 29"/>
          <p:cNvSpPr txBox="1"/>
          <p:nvPr/>
        </p:nvSpPr>
        <p:spPr>
          <a:xfrm>
            <a:off x="4587564" y="6180042"/>
            <a:ext cx="1799994" cy="808028"/>
          </a:xfrm>
          <a:prstGeom prst="rect">
            <a:avLst/>
          </a:prstGeom>
        </p:spPr>
        <p:txBody>
          <a:bodyPr lIns="0" tIns="0" rIns="0" bIns="0" rtlCol="0" anchor="t">
            <a:spAutoFit/>
          </a:bodyPr>
          <a:lstStyle/>
          <a:p>
            <a:pPr algn="ctr">
              <a:lnSpc>
                <a:spcPts val="6220"/>
              </a:lnSpc>
            </a:pPr>
            <a:r>
              <a:rPr lang="en-US" sz="4443" b="1">
                <a:solidFill>
                  <a:srgbClr val="000000"/>
                </a:solidFill>
                <a:latin typeface="Poppins Bold"/>
                <a:ea typeface="Poppins Bold"/>
                <a:cs typeface="Poppins Bold"/>
                <a:sym typeface="Poppins Bold"/>
              </a:rPr>
              <a:t>500K</a:t>
            </a:r>
          </a:p>
        </p:txBody>
      </p:sp>
      <p:sp>
        <p:nvSpPr>
          <p:cNvPr id="30" name="TextBox 30"/>
          <p:cNvSpPr txBox="1"/>
          <p:nvPr/>
        </p:nvSpPr>
        <p:spPr>
          <a:xfrm>
            <a:off x="4729036" y="6940445"/>
            <a:ext cx="1455630" cy="648743"/>
          </a:xfrm>
          <a:prstGeom prst="rect">
            <a:avLst/>
          </a:prstGeom>
        </p:spPr>
        <p:txBody>
          <a:bodyPr lIns="0" tIns="0" rIns="0" bIns="0" rtlCol="0" anchor="t">
            <a:spAutoFit/>
          </a:bodyPr>
          <a:lstStyle/>
          <a:p>
            <a:pPr algn="ctr">
              <a:lnSpc>
                <a:spcPts val="2563"/>
              </a:lnSpc>
            </a:pPr>
            <a:r>
              <a:rPr lang="en-US" sz="1830">
                <a:solidFill>
                  <a:srgbClr val="000000"/>
                </a:solidFill>
                <a:latin typeface="Poppins"/>
                <a:ea typeface="Poppins"/>
                <a:cs typeface="Poppins"/>
                <a:sym typeface="Poppins"/>
              </a:rPr>
              <a:t> Accidents</a:t>
            </a:r>
          </a:p>
          <a:p>
            <a:pPr algn="ctr">
              <a:lnSpc>
                <a:spcPts val="2563"/>
              </a:lnSpc>
            </a:pPr>
            <a:r>
              <a:rPr lang="en-US" sz="1830">
                <a:solidFill>
                  <a:srgbClr val="000000"/>
                </a:solidFill>
                <a:latin typeface="Poppins"/>
                <a:ea typeface="Poppins"/>
                <a:cs typeface="Poppins"/>
                <a:sym typeface="Poppins"/>
              </a:rPr>
              <a:t>Records</a:t>
            </a:r>
          </a:p>
        </p:txBody>
      </p:sp>
      <p:sp>
        <p:nvSpPr>
          <p:cNvPr id="31" name="TextBox 31"/>
          <p:cNvSpPr txBox="1"/>
          <p:nvPr/>
        </p:nvSpPr>
        <p:spPr>
          <a:xfrm>
            <a:off x="616150" y="5357859"/>
            <a:ext cx="2543292" cy="523968"/>
          </a:xfrm>
          <a:prstGeom prst="rect">
            <a:avLst/>
          </a:prstGeom>
        </p:spPr>
        <p:txBody>
          <a:bodyPr lIns="0" tIns="0" rIns="0" bIns="0" rtlCol="0" anchor="t">
            <a:spAutoFit/>
          </a:bodyPr>
          <a:lstStyle/>
          <a:p>
            <a:pPr algn="ctr">
              <a:lnSpc>
                <a:spcPts val="4194"/>
              </a:lnSpc>
            </a:pPr>
            <a:r>
              <a:rPr lang="en-US" sz="2996" b="1">
                <a:solidFill>
                  <a:srgbClr val="000000"/>
                </a:solidFill>
                <a:latin typeface="Poppins Semi-Bold"/>
                <a:ea typeface="Poppins Semi-Bold"/>
                <a:cs typeface="Poppins Semi-Bold"/>
                <a:sym typeface="Poppins Semi-Bold"/>
              </a:rPr>
              <a:t>We analyze:</a:t>
            </a:r>
          </a:p>
        </p:txBody>
      </p:sp>
      <p:sp>
        <p:nvSpPr>
          <p:cNvPr id="32" name="TextBox 32"/>
          <p:cNvSpPr txBox="1"/>
          <p:nvPr/>
        </p:nvSpPr>
        <p:spPr>
          <a:xfrm>
            <a:off x="4407998" y="8073082"/>
            <a:ext cx="2406210" cy="383044"/>
          </a:xfrm>
          <a:prstGeom prst="rect">
            <a:avLst/>
          </a:prstGeom>
        </p:spPr>
        <p:txBody>
          <a:bodyPr lIns="0" tIns="0" rIns="0" bIns="0" rtlCol="0" anchor="t">
            <a:spAutoFit/>
          </a:bodyPr>
          <a:lstStyle/>
          <a:p>
            <a:pPr algn="ctr">
              <a:lnSpc>
                <a:spcPts val="3082"/>
              </a:lnSpc>
            </a:pPr>
            <a:r>
              <a:rPr lang="en-US" sz="2201" b="1">
                <a:solidFill>
                  <a:srgbClr val="000000"/>
                </a:solidFill>
                <a:latin typeface="Poppins Bold"/>
                <a:ea typeface="Poppins Bold"/>
                <a:cs typeface="Poppins Bold"/>
                <a:sym typeface="Poppins Bold"/>
              </a:rPr>
              <a:t>2016 to 2022</a:t>
            </a:r>
          </a:p>
        </p:txBody>
      </p:sp>
      <p:sp>
        <p:nvSpPr>
          <p:cNvPr id="33" name="TextBox 33"/>
          <p:cNvSpPr txBox="1"/>
          <p:nvPr/>
        </p:nvSpPr>
        <p:spPr>
          <a:xfrm>
            <a:off x="616150" y="3175557"/>
            <a:ext cx="1784427" cy="523968"/>
          </a:xfrm>
          <a:prstGeom prst="rect">
            <a:avLst/>
          </a:prstGeom>
        </p:spPr>
        <p:txBody>
          <a:bodyPr lIns="0" tIns="0" rIns="0" bIns="0" rtlCol="0" anchor="t">
            <a:spAutoFit/>
          </a:bodyPr>
          <a:lstStyle/>
          <a:p>
            <a:pPr algn="ctr">
              <a:lnSpc>
                <a:spcPts val="4194"/>
              </a:lnSpc>
            </a:pPr>
            <a:r>
              <a:rPr lang="en-US" sz="2996" b="1">
                <a:solidFill>
                  <a:srgbClr val="000000"/>
                </a:solidFill>
                <a:latin typeface="Poppins Semi-Bold"/>
                <a:ea typeface="Poppins Semi-Bold"/>
                <a:cs typeface="Poppins Semi-Bold"/>
                <a:sym typeface="Poppins Semi-Bold"/>
              </a:rPr>
              <a:t>We Use:</a:t>
            </a:r>
          </a:p>
        </p:txBody>
      </p:sp>
      <p:sp>
        <p:nvSpPr>
          <p:cNvPr id="34" name="TextBox 34"/>
          <p:cNvSpPr txBox="1"/>
          <p:nvPr/>
        </p:nvSpPr>
        <p:spPr>
          <a:xfrm>
            <a:off x="3245167" y="3600735"/>
            <a:ext cx="8573150" cy="1047843"/>
          </a:xfrm>
          <a:prstGeom prst="rect">
            <a:avLst/>
          </a:prstGeom>
        </p:spPr>
        <p:txBody>
          <a:bodyPr lIns="0" tIns="0" rIns="0" bIns="0" rtlCol="0" anchor="t">
            <a:spAutoFit/>
          </a:bodyPr>
          <a:lstStyle/>
          <a:p>
            <a:pPr algn="ctr">
              <a:lnSpc>
                <a:spcPts val="4194"/>
              </a:lnSpc>
            </a:pPr>
            <a:r>
              <a:rPr lang="en-US" sz="2996" b="1">
                <a:solidFill>
                  <a:srgbClr val="000000"/>
                </a:solidFill>
                <a:latin typeface="Poppins Medium"/>
                <a:ea typeface="Poppins Medium"/>
                <a:cs typeface="Poppins Medium"/>
                <a:sym typeface="Poppins Medium"/>
              </a:rPr>
              <a:t>US Accidents DataSet - Kaggle</a:t>
            </a:r>
          </a:p>
          <a:p>
            <a:pPr algn="ctr">
              <a:lnSpc>
                <a:spcPts val="4194"/>
              </a:lnSpc>
            </a:pPr>
            <a:endParaRPr lang="en-US" sz="2996" b="1">
              <a:solidFill>
                <a:srgbClr val="000000"/>
              </a:solidFill>
              <a:latin typeface="Poppins Medium"/>
              <a:ea typeface="Poppins Medium"/>
              <a:cs typeface="Poppins Medium"/>
              <a:sym typeface="Poppins Medium"/>
            </a:endParaRPr>
          </a:p>
        </p:txBody>
      </p:sp>
      <p:sp>
        <p:nvSpPr>
          <p:cNvPr id="35" name="TextBox 35"/>
          <p:cNvSpPr txBox="1"/>
          <p:nvPr/>
        </p:nvSpPr>
        <p:spPr>
          <a:xfrm>
            <a:off x="10877837" y="6843543"/>
            <a:ext cx="2107816" cy="252430"/>
          </a:xfrm>
          <a:prstGeom prst="rect">
            <a:avLst/>
          </a:prstGeom>
        </p:spPr>
        <p:txBody>
          <a:bodyPr lIns="0" tIns="0" rIns="0" bIns="0" rtlCol="0" anchor="t">
            <a:spAutoFit/>
          </a:bodyPr>
          <a:lstStyle/>
          <a:p>
            <a:pPr algn="ctr">
              <a:lnSpc>
                <a:spcPts val="1930"/>
              </a:lnSpc>
            </a:pPr>
            <a:r>
              <a:rPr lang="en-US" sz="1378" b="1">
                <a:solidFill>
                  <a:srgbClr val="000000"/>
                </a:solidFill>
                <a:latin typeface="Poppins Bold"/>
                <a:ea typeface="Poppins Bold"/>
                <a:cs typeface="Poppins Bold"/>
                <a:sym typeface="Poppins Bold"/>
              </a:rPr>
              <a:t>6Yr - Trend &amp; Pattren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3797003" y="6668698"/>
            <a:ext cx="1324010" cy="1266958"/>
            <a:chOff x="0" y="0"/>
            <a:chExt cx="849401" cy="812800"/>
          </a:xfrm>
        </p:grpSpPr>
        <p:sp>
          <p:nvSpPr>
            <p:cNvPr id="3" name="Freeform 3"/>
            <p:cNvSpPr/>
            <p:nvPr/>
          </p:nvSpPr>
          <p:spPr>
            <a:xfrm>
              <a:off x="0" y="0"/>
              <a:ext cx="849401" cy="812800"/>
            </a:xfrm>
            <a:custGeom>
              <a:avLst/>
              <a:gdLst/>
              <a:ahLst/>
              <a:cxnLst/>
              <a:rect l="l" t="t" r="r" b="b"/>
              <a:pathLst>
                <a:path w="849401" h="812800">
                  <a:moveTo>
                    <a:pt x="424701" y="0"/>
                  </a:moveTo>
                  <a:cubicBezTo>
                    <a:pt x="190145" y="0"/>
                    <a:pt x="0" y="181951"/>
                    <a:pt x="0" y="406400"/>
                  </a:cubicBezTo>
                  <a:cubicBezTo>
                    <a:pt x="0" y="630849"/>
                    <a:pt x="190145" y="812800"/>
                    <a:pt x="424701" y="812800"/>
                  </a:cubicBezTo>
                  <a:cubicBezTo>
                    <a:pt x="659256" y="812800"/>
                    <a:pt x="849401" y="630849"/>
                    <a:pt x="849401" y="406400"/>
                  </a:cubicBezTo>
                  <a:cubicBezTo>
                    <a:pt x="849401" y="181951"/>
                    <a:pt x="659256" y="0"/>
                    <a:pt x="424701" y="0"/>
                  </a:cubicBezTo>
                  <a:close/>
                </a:path>
              </a:pathLst>
            </a:custGeom>
            <a:solidFill>
              <a:srgbClr val="F8D133"/>
            </a:solidFill>
          </p:spPr>
        </p:sp>
        <p:sp>
          <p:nvSpPr>
            <p:cNvPr id="4" name="TextBox 4"/>
            <p:cNvSpPr txBox="1"/>
            <p:nvPr/>
          </p:nvSpPr>
          <p:spPr>
            <a:xfrm>
              <a:off x="79631" y="9525"/>
              <a:ext cx="690139"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7297049" y="6404110"/>
            <a:ext cx="1411810" cy="1369405"/>
            <a:chOff x="0" y="0"/>
            <a:chExt cx="837969" cy="812800"/>
          </a:xfrm>
        </p:grpSpPr>
        <p:sp>
          <p:nvSpPr>
            <p:cNvPr id="6" name="Freeform 6"/>
            <p:cNvSpPr/>
            <p:nvPr/>
          </p:nvSpPr>
          <p:spPr>
            <a:xfrm>
              <a:off x="0" y="0"/>
              <a:ext cx="837969" cy="812800"/>
            </a:xfrm>
            <a:custGeom>
              <a:avLst/>
              <a:gdLst/>
              <a:ahLst/>
              <a:cxnLst/>
              <a:rect l="l" t="t" r="r" b="b"/>
              <a:pathLst>
                <a:path w="837969" h="812800">
                  <a:moveTo>
                    <a:pt x="418984" y="0"/>
                  </a:moveTo>
                  <a:cubicBezTo>
                    <a:pt x="187586" y="0"/>
                    <a:pt x="0" y="181951"/>
                    <a:pt x="0" y="406400"/>
                  </a:cubicBezTo>
                  <a:cubicBezTo>
                    <a:pt x="0" y="630849"/>
                    <a:pt x="187586" y="812800"/>
                    <a:pt x="418984" y="812800"/>
                  </a:cubicBezTo>
                  <a:cubicBezTo>
                    <a:pt x="650383" y="812800"/>
                    <a:pt x="837969" y="630849"/>
                    <a:pt x="837969" y="406400"/>
                  </a:cubicBezTo>
                  <a:cubicBezTo>
                    <a:pt x="837969" y="181951"/>
                    <a:pt x="650383" y="0"/>
                    <a:pt x="418984" y="0"/>
                  </a:cubicBezTo>
                  <a:close/>
                </a:path>
              </a:pathLst>
            </a:custGeom>
            <a:solidFill>
              <a:srgbClr val="F8D133"/>
            </a:solidFill>
          </p:spPr>
        </p:sp>
        <p:sp>
          <p:nvSpPr>
            <p:cNvPr id="7" name="TextBox 7"/>
            <p:cNvSpPr txBox="1"/>
            <p:nvPr/>
          </p:nvSpPr>
          <p:spPr>
            <a:xfrm>
              <a:off x="78560" y="9525"/>
              <a:ext cx="680850" cy="727075"/>
            </a:xfrm>
            <a:prstGeom prst="rect">
              <a:avLst/>
            </a:prstGeom>
          </p:spPr>
          <p:txBody>
            <a:bodyPr lIns="50800" tIns="50800" rIns="50800" bIns="50800" rtlCol="0" anchor="ctr"/>
            <a:lstStyle/>
            <a:p>
              <a:pPr algn="ctr">
                <a:lnSpc>
                  <a:spcPts val="3015"/>
                </a:lnSpc>
              </a:pPr>
              <a:endParaRPr/>
            </a:p>
          </p:txBody>
        </p:sp>
      </p:grpSp>
      <p:grpSp>
        <p:nvGrpSpPr>
          <p:cNvPr id="8" name="Group 8"/>
          <p:cNvGrpSpPr/>
          <p:nvPr/>
        </p:nvGrpSpPr>
        <p:grpSpPr>
          <a:xfrm>
            <a:off x="12063580" y="-698391"/>
            <a:ext cx="2181682" cy="21816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10" name="TextBox 10"/>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sp>
        <p:nvSpPr>
          <p:cNvPr id="11" name="Freeform 11"/>
          <p:cNvSpPr/>
          <p:nvPr/>
        </p:nvSpPr>
        <p:spPr>
          <a:xfrm>
            <a:off x="13809595" y="-2395998"/>
            <a:ext cx="4692701" cy="4692701"/>
          </a:xfrm>
          <a:custGeom>
            <a:avLst/>
            <a:gdLst/>
            <a:ahLst/>
            <a:cxnLst/>
            <a:rect l="l" t="t" r="r" b="b"/>
            <a:pathLst>
              <a:path w="4692701" h="4692701">
                <a:moveTo>
                  <a:pt x="0" y="0"/>
                </a:moveTo>
                <a:lnTo>
                  <a:pt x="4692701" y="0"/>
                </a:lnTo>
                <a:lnTo>
                  <a:pt x="4692701" y="4692701"/>
                </a:lnTo>
                <a:lnTo>
                  <a:pt x="0" y="4692701"/>
                </a:lnTo>
                <a:lnTo>
                  <a:pt x="0" y="0"/>
                </a:lnTo>
                <a:close/>
              </a:path>
            </a:pathLst>
          </a:custGeom>
          <a:blipFill>
            <a:blip r:embed="rId3"/>
            <a:stretch>
              <a:fillRect/>
            </a:stretch>
          </a:blipFill>
        </p:spPr>
      </p:sp>
      <p:grpSp>
        <p:nvGrpSpPr>
          <p:cNvPr id="12" name="Group 12"/>
          <p:cNvGrpSpPr/>
          <p:nvPr/>
        </p:nvGrpSpPr>
        <p:grpSpPr>
          <a:xfrm>
            <a:off x="16682644" y="1627994"/>
            <a:ext cx="913693" cy="912707"/>
            <a:chOff x="0" y="0"/>
            <a:chExt cx="812800" cy="811923"/>
          </a:xfrm>
        </p:grpSpPr>
        <p:sp>
          <p:nvSpPr>
            <p:cNvPr id="13" name="Freeform 13"/>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14" name="TextBox 14"/>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grpSp>
        <p:nvGrpSpPr>
          <p:cNvPr id="15" name="Group 15"/>
          <p:cNvGrpSpPr/>
          <p:nvPr/>
        </p:nvGrpSpPr>
        <p:grpSpPr>
          <a:xfrm>
            <a:off x="9464976" y="5712937"/>
            <a:ext cx="1289760" cy="1290430"/>
            <a:chOff x="0" y="0"/>
            <a:chExt cx="812378" cy="812800"/>
          </a:xfrm>
        </p:grpSpPr>
        <p:sp>
          <p:nvSpPr>
            <p:cNvPr id="16" name="Freeform 16"/>
            <p:cNvSpPr/>
            <p:nvPr/>
          </p:nvSpPr>
          <p:spPr>
            <a:xfrm>
              <a:off x="0" y="0"/>
              <a:ext cx="812378" cy="812800"/>
            </a:xfrm>
            <a:custGeom>
              <a:avLst/>
              <a:gdLst/>
              <a:ahLst/>
              <a:cxnLst/>
              <a:rect l="l" t="t" r="r" b="b"/>
              <a:pathLst>
                <a:path w="812378" h="812800">
                  <a:moveTo>
                    <a:pt x="406189" y="0"/>
                  </a:moveTo>
                  <a:cubicBezTo>
                    <a:pt x="181857" y="0"/>
                    <a:pt x="0" y="181951"/>
                    <a:pt x="0" y="406400"/>
                  </a:cubicBezTo>
                  <a:cubicBezTo>
                    <a:pt x="0" y="630849"/>
                    <a:pt x="181857" y="812800"/>
                    <a:pt x="406189" y="812800"/>
                  </a:cubicBezTo>
                  <a:cubicBezTo>
                    <a:pt x="630521" y="812800"/>
                    <a:pt x="812378" y="630849"/>
                    <a:pt x="812378" y="406400"/>
                  </a:cubicBezTo>
                  <a:cubicBezTo>
                    <a:pt x="812378" y="181951"/>
                    <a:pt x="630521" y="0"/>
                    <a:pt x="406189" y="0"/>
                  </a:cubicBezTo>
                  <a:close/>
                </a:path>
              </a:pathLst>
            </a:custGeom>
            <a:solidFill>
              <a:srgbClr val="F8D133"/>
            </a:solidFill>
          </p:spPr>
        </p:sp>
        <p:sp>
          <p:nvSpPr>
            <p:cNvPr id="17" name="TextBox 17"/>
            <p:cNvSpPr txBox="1"/>
            <p:nvPr/>
          </p:nvSpPr>
          <p:spPr>
            <a:xfrm>
              <a:off x="76160" y="9525"/>
              <a:ext cx="660057" cy="727075"/>
            </a:xfrm>
            <a:prstGeom prst="rect">
              <a:avLst/>
            </a:prstGeom>
          </p:spPr>
          <p:txBody>
            <a:bodyPr lIns="50800" tIns="50800" rIns="50800" bIns="50800" rtlCol="0" anchor="ctr"/>
            <a:lstStyle/>
            <a:p>
              <a:pPr algn="ctr">
                <a:lnSpc>
                  <a:spcPts val="3015"/>
                </a:lnSpc>
              </a:pPr>
              <a:endParaRPr/>
            </a:p>
          </p:txBody>
        </p:sp>
      </p:grpSp>
      <p:grpSp>
        <p:nvGrpSpPr>
          <p:cNvPr id="18" name="Group 18"/>
          <p:cNvGrpSpPr/>
          <p:nvPr/>
        </p:nvGrpSpPr>
        <p:grpSpPr>
          <a:xfrm>
            <a:off x="11135878" y="6692317"/>
            <a:ext cx="1382766" cy="1323182"/>
            <a:chOff x="0" y="0"/>
            <a:chExt cx="849401" cy="812800"/>
          </a:xfrm>
        </p:grpSpPr>
        <p:sp>
          <p:nvSpPr>
            <p:cNvPr id="19" name="Freeform 19"/>
            <p:cNvSpPr/>
            <p:nvPr/>
          </p:nvSpPr>
          <p:spPr>
            <a:xfrm>
              <a:off x="0" y="0"/>
              <a:ext cx="849401" cy="812800"/>
            </a:xfrm>
            <a:custGeom>
              <a:avLst/>
              <a:gdLst/>
              <a:ahLst/>
              <a:cxnLst/>
              <a:rect l="l" t="t" r="r" b="b"/>
              <a:pathLst>
                <a:path w="849401" h="812800">
                  <a:moveTo>
                    <a:pt x="424701" y="0"/>
                  </a:moveTo>
                  <a:cubicBezTo>
                    <a:pt x="190145" y="0"/>
                    <a:pt x="0" y="181951"/>
                    <a:pt x="0" y="406400"/>
                  </a:cubicBezTo>
                  <a:cubicBezTo>
                    <a:pt x="0" y="630849"/>
                    <a:pt x="190145" y="812800"/>
                    <a:pt x="424701" y="812800"/>
                  </a:cubicBezTo>
                  <a:cubicBezTo>
                    <a:pt x="659256" y="812800"/>
                    <a:pt x="849401" y="630849"/>
                    <a:pt x="849401" y="406400"/>
                  </a:cubicBezTo>
                  <a:cubicBezTo>
                    <a:pt x="849401" y="181951"/>
                    <a:pt x="659256" y="0"/>
                    <a:pt x="424701" y="0"/>
                  </a:cubicBezTo>
                  <a:close/>
                </a:path>
              </a:pathLst>
            </a:custGeom>
            <a:solidFill>
              <a:srgbClr val="F8D133"/>
            </a:solidFill>
          </p:spPr>
        </p:sp>
        <p:sp>
          <p:nvSpPr>
            <p:cNvPr id="20" name="TextBox 20"/>
            <p:cNvSpPr txBox="1"/>
            <p:nvPr/>
          </p:nvSpPr>
          <p:spPr>
            <a:xfrm>
              <a:off x="79631" y="9525"/>
              <a:ext cx="690139" cy="727075"/>
            </a:xfrm>
            <a:prstGeom prst="rect">
              <a:avLst/>
            </a:prstGeom>
          </p:spPr>
          <p:txBody>
            <a:bodyPr lIns="50800" tIns="50800" rIns="50800" bIns="50800" rtlCol="0" anchor="ctr"/>
            <a:lstStyle/>
            <a:p>
              <a:pPr algn="ctr">
                <a:lnSpc>
                  <a:spcPts val="3015"/>
                </a:lnSpc>
              </a:pPr>
              <a:endParaRPr/>
            </a:p>
          </p:txBody>
        </p:sp>
      </p:grpSp>
      <p:sp>
        <p:nvSpPr>
          <p:cNvPr id="21" name="TextBox 21"/>
          <p:cNvSpPr txBox="1"/>
          <p:nvPr/>
        </p:nvSpPr>
        <p:spPr>
          <a:xfrm>
            <a:off x="640714" y="631733"/>
            <a:ext cx="6312578" cy="1674495"/>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Project</a:t>
            </a:r>
          </a:p>
          <a:p>
            <a:pPr algn="l">
              <a:lnSpc>
                <a:spcPts val="6240"/>
              </a:lnSpc>
            </a:pPr>
            <a:r>
              <a:rPr lang="en-US" sz="6000" b="1" spc="126">
                <a:solidFill>
                  <a:srgbClr val="000000"/>
                </a:solidFill>
                <a:latin typeface="Poppins Bold"/>
                <a:ea typeface="Poppins Bold"/>
                <a:cs typeface="Poppins Bold"/>
                <a:sym typeface="Poppins Bold"/>
              </a:rPr>
              <a:t>Overview</a:t>
            </a:r>
          </a:p>
        </p:txBody>
      </p:sp>
      <p:sp>
        <p:nvSpPr>
          <p:cNvPr id="22" name="TextBox 22"/>
          <p:cNvSpPr txBox="1"/>
          <p:nvPr/>
        </p:nvSpPr>
        <p:spPr>
          <a:xfrm>
            <a:off x="609600" y="3156036"/>
            <a:ext cx="2298578" cy="523968"/>
          </a:xfrm>
          <a:prstGeom prst="rect">
            <a:avLst/>
          </a:prstGeom>
        </p:spPr>
        <p:txBody>
          <a:bodyPr lIns="0" tIns="0" rIns="0" bIns="0" rtlCol="0" anchor="t">
            <a:spAutoFit/>
          </a:bodyPr>
          <a:lstStyle/>
          <a:p>
            <a:pPr algn="ctr">
              <a:lnSpc>
                <a:spcPts val="4194"/>
              </a:lnSpc>
            </a:pPr>
            <a:r>
              <a:rPr lang="en-US" sz="2996" b="1" dirty="0">
                <a:solidFill>
                  <a:srgbClr val="000000"/>
                </a:solidFill>
                <a:latin typeface="Poppins Semi-Bold"/>
                <a:ea typeface="Poppins Semi-Bold"/>
                <a:cs typeface="Poppins Semi-Bold"/>
                <a:sym typeface="Poppins Semi-Bold"/>
              </a:rPr>
              <a:t>We Explore:</a:t>
            </a:r>
          </a:p>
        </p:txBody>
      </p:sp>
      <p:sp>
        <p:nvSpPr>
          <p:cNvPr id="23" name="TextBox 23"/>
          <p:cNvSpPr txBox="1"/>
          <p:nvPr/>
        </p:nvSpPr>
        <p:spPr>
          <a:xfrm>
            <a:off x="2790196" y="3901022"/>
            <a:ext cx="11550316" cy="523968"/>
          </a:xfrm>
          <a:prstGeom prst="rect">
            <a:avLst/>
          </a:prstGeom>
        </p:spPr>
        <p:txBody>
          <a:bodyPr lIns="0" tIns="0" rIns="0" bIns="0" rtlCol="0" anchor="t">
            <a:spAutoFit/>
          </a:bodyPr>
          <a:lstStyle/>
          <a:p>
            <a:pPr algn="ctr">
              <a:lnSpc>
                <a:spcPts val="4194"/>
              </a:lnSpc>
            </a:pPr>
            <a:r>
              <a:rPr lang="en-US" sz="2996">
                <a:solidFill>
                  <a:srgbClr val="000000"/>
                </a:solidFill>
                <a:latin typeface="Poppins"/>
                <a:ea typeface="Poppins"/>
                <a:cs typeface="Poppins"/>
                <a:sym typeface="Poppins"/>
              </a:rPr>
              <a:t>Which states have the most accidents, and their distribution.</a:t>
            </a:r>
          </a:p>
        </p:txBody>
      </p:sp>
      <p:sp>
        <p:nvSpPr>
          <p:cNvPr id="24" name="TextBox 24"/>
          <p:cNvSpPr txBox="1"/>
          <p:nvPr/>
        </p:nvSpPr>
        <p:spPr>
          <a:xfrm>
            <a:off x="7409691" y="6647497"/>
            <a:ext cx="1186525" cy="745792"/>
          </a:xfrm>
          <a:prstGeom prst="rect">
            <a:avLst/>
          </a:prstGeom>
        </p:spPr>
        <p:txBody>
          <a:bodyPr lIns="0" tIns="0" rIns="0" bIns="0" rtlCol="0" anchor="t">
            <a:spAutoFit/>
          </a:bodyPr>
          <a:lstStyle/>
          <a:p>
            <a:pPr algn="ctr">
              <a:lnSpc>
                <a:spcPts val="1907"/>
              </a:lnSpc>
            </a:pPr>
            <a:r>
              <a:rPr lang="en-US" sz="1602" b="1">
                <a:solidFill>
                  <a:srgbClr val="000000"/>
                </a:solidFill>
                <a:latin typeface="Poppins Medium"/>
                <a:ea typeface="Poppins Medium"/>
                <a:cs typeface="Poppins Medium"/>
                <a:sym typeface="Poppins Medium"/>
              </a:rPr>
              <a:t>Week</a:t>
            </a:r>
          </a:p>
          <a:p>
            <a:pPr algn="ctr">
              <a:lnSpc>
                <a:spcPts val="1907"/>
              </a:lnSpc>
            </a:pPr>
            <a:r>
              <a:rPr lang="en-US" sz="1602" b="1">
                <a:solidFill>
                  <a:srgbClr val="000000"/>
                </a:solidFill>
                <a:latin typeface="Poppins Medium"/>
                <a:ea typeface="Poppins Medium"/>
                <a:cs typeface="Poppins Medium"/>
                <a:sym typeface="Poppins Medium"/>
              </a:rPr>
              <a:t>vs</a:t>
            </a:r>
          </a:p>
          <a:p>
            <a:pPr algn="ctr">
              <a:lnSpc>
                <a:spcPts val="1907"/>
              </a:lnSpc>
            </a:pPr>
            <a:r>
              <a:rPr lang="en-US" sz="1602" b="1">
                <a:solidFill>
                  <a:srgbClr val="000000"/>
                </a:solidFill>
                <a:latin typeface="Poppins Medium"/>
                <a:ea typeface="Poppins Medium"/>
                <a:cs typeface="Poppins Medium"/>
                <a:sym typeface="Poppins Medium"/>
              </a:rPr>
              <a:t>Weekend</a:t>
            </a:r>
          </a:p>
        </p:txBody>
      </p:sp>
      <p:sp>
        <p:nvSpPr>
          <p:cNvPr id="25" name="TextBox 25"/>
          <p:cNvSpPr txBox="1"/>
          <p:nvPr/>
        </p:nvSpPr>
        <p:spPr>
          <a:xfrm>
            <a:off x="9537880" y="6081130"/>
            <a:ext cx="1143952" cy="549645"/>
          </a:xfrm>
          <a:prstGeom prst="rect">
            <a:avLst/>
          </a:prstGeom>
        </p:spPr>
        <p:txBody>
          <a:bodyPr lIns="0" tIns="0" rIns="0" bIns="0" rtlCol="0" anchor="t">
            <a:spAutoFit/>
          </a:bodyPr>
          <a:lstStyle/>
          <a:p>
            <a:pPr algn="ctr">
              <a:lnSpc>
                <a:spcPts val="2140"/>
              </a:lnSpc>
            </a:pPr>
            <a:r>
              <a:rPr lang="en-US" sz="1798" b="1">
                <a:solidFill>
                  <a:srgbClr val="000000"/>
                </a:solidFill>
                <a:latin typeface="Poppins Medium"/>
                <a:ea typeface="Poppins Medium"/>
                <a:cs typeface="Poppins Medium"/>
                <a:sym typeface="Poppins Medium"/>
              </a:rPr>
              <a:t>Time of Day</a:t>
            </a:r>
          </a:p>
        </p:txBody>
      </p:sp>
      <p:sp>
        <p:nvSpPr>
          <p:cNvPr id="26" name="TextBox 26"/>
          <p:cNvSpPr txBox="1"/>
          <p:nvPr/>
        </p:nvSpPr>
        <p:spPr>
          <a:xfrm>
            <a:off x="628548" y="5373358"/>
            <a:ext cx="3257652" cy="523968"/>
          </a:xfrm>
          <a:prstGeom prst="rect">
            <a:avLst/>
          </a:prstGeom>
        </p:spPr>
        <p:txBody>
          <a:bodyPr lIns="0" tIns="0" rIns="0" bIns="0" rtlCol="0" anchor="t">
            <a:spAutoFit/>
          </a:bodyPr>
          <a:lstStyle/>
          <a:p>
            <a:pPr algn="l">
              <a:lnSpc>
                <a:spcPts val="4194"/>
              </a:lnSpc>
            </a:pPr>
            <a:r>
              <a:rPr lang="en-US" sz="2996" b="1" dirty="0">
                <a:solidFill>
                  <a:srgbClr val="000000"/>
                </a:solidFill>
                <a:latin typeface="Poppins Semi-Bold"/>
                <a:ea typeface="Poppins Semi-Bold"/>
                <a:cs typeface="Poppins Semi-Bold"/>
                <a:sym typeface="Poppins Semi-Bold"/>
              </a:rPr>
              <a:t>Patterns:</a:t>
            </a:r>
          </a:p>
        </p:txBody>
      </p:sp>
      <p:sp>
        <p:nvSpPr>
          <p:cNvPr id="27" name="TextBox 27"/>
          <p:cNvSpPr txBox="1"/>
          <p:nvPr/>
        </p:nvSpPr>
        <p:spPr>
          <a:xfrm>
            <a:off x="11283805" y="7047340"/>
            <a:ext cx="1055817" cy="515010"/>
          </a:xfrm>
          <a:prstGeom prst="rect">
            <a:avLst/>
          </a:prstGeom>
        </p:spPr>
        <p:txBody>
          <a:bodyPr lIns="0" tIns="0" rIns="0" bIns="0" rtlCol="0" anchor="t">
            <a:spAutoFit/>
          </a:bodyPr>
          <a:lstStyle/>
          <a:p>
            <a:pPr algn="ctr">
              <a:lnSpc>
                <a:spcPts val="2062"/>
              </a:lnSpc>
            </a:pPr>
            <a:r>
              <a:rPr lang="en-US" sz="1473" b="1">
                <a:solidFill>
                  <a:srgbClr val="000000"/>
                </a:solidFill>
                <a:latin typeface="Poppins Medium"/>
                <a:ea typeface="Poppins Medium"/>
                <a:cs typeface="Poppins Medium"/>
                <a:sym typeface="Poppins Medium"/>
              </a:rPr>
              <a:t>weather conditions</a:t>
            </a:r>
          </a:p>
        </p:txBody>
      </p:sp>
      <p:sp>
        <p:nvSpPr>
          <p:cNvPr id="28" name="TextBox 28"/>
          <p:cNvSpPr txBox="1"/>
          <p:nvPr/>
        </p:nvSpPr>
        <p:spPr>
          <a:xfrm>
            <a:off x="3897148" y="6917226"/>
            <a:ext cx="1123720" cy="733524"/>
          </a:xfrm>
          <a:prstGeom prst="rect">
            <a:avLst/>
          </a:prstGeom>
        </p:spPr>
        <p:txBody>
          <a:bodyPr lIns="0" tIns="0" rIns="0" bIns="0" rtlCol="0" anchor="t">
            <a:spAutoFit/>
          </a:bodyPr>
          <a:lstStyle/>
          <a:p>
            <a:pPr algn="ctr">
              <a:lnSpc>
                <a:spcPts val="1925"/>
              </a:lnSpc>
            </a:pPr>
            <a:r>
              <a:rPr lang="en-US" sz="1618" b="1">
                <a:solidFill>
                  <a:srgbClr val="000000"/>
                </a:solidFill>
                <a:latin typeface="Poppins Medium"/>
                <a:ea typeface="Poppins Medium"/>
                <a:cs typeface="Poppins Medium"/>
                <a:sym typeface="Poppins Medium"/>
              </a:rPr>
              <a:t>Day</a:t>
            </a:r>
          </a:p>
          <a:p>
            <a:pPr algn="ctr">
              <a:lnSpc>
                <a:spcPts val="1925"/>
              </a:lnSpc>
            </a:pPr>
            <a:r>
              <a:rPr lang="en-US" sz="1618" b="1">
                <a:solidFill>
                  <a:srgbClr val="000000"/>
                </a:solidFill>
                <a:latin typeface="Poppins Medium"/>
                <a:ea typeface="Poppins Medium"/>
                <a:cs typeface="Poppins Medium"/>
                <a:sym typeface="Poppins Medium"/>
              </a:rPr>
              <a:t>vs</a:t>
            </a:r>
          </a:p>
          <a:p>
            <a:pPr algn="ctr">
              <a:lnSpc>
                <a:spcPts val="1925"/>
              </a:lnSpc>
            </a:pPr>
            <a:r>
              <a:rPr lang="en-US" sz="1618" b="1">
                <a:solidFill>
                  <a:srgbClr val="000000"/>
                </a:solidFill>
                <a:latin typeface="Poppins Medium"/>
                <a:ea typeface="Poppins Medium"/>
                <a:cs typeface="Poppins Medium"/>
                <a:sym typeface="Poppins Medium"/>
              </a:rPr>
              <a:t>Night</a:t>
            </a:r>
          </a:p>
        </p:txBody>
      </p:sp>
      <p:sp>
        <p:nvSpPr>
          <p:cNvPr id="29" name="Freeform 29"/>
          <p:cNvSpPr/>
          <p:nvPr/>
        </p:nvSpPr>
        <p:spPr>
          <a:xfrm>
            <a:off x="13959310" y="5196515"/>
            <a:ext cx="3761402" cy="2999718"/>
          </a:xfrm>
          <a:custGeom>
            <a:avLst/>
            <a:gdLst/>
            <a:ahLst/>
            <a:cxnLst/>
            <a:rect l="l" t="t" r="r" b="b"/>
            <a:pathLst>
              <a:path w="3761402" h="2999718">
                <a:moveTo>
                  <a:pt x="0" y="0"/>
                </a:moveTo>
                <a:lnTo>
                  <a:pt x="3761402" y="0"/>
                </a:lnTo>
                <a:lnTo>
                  <a:pt x="3761402" y="2999718"/>
                </a:lnTo>
                <a:lnTo>
                  <a:pt x="0" y="2999718"/>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sp>
      <p:grpSp>
        <p:nvGrpSpPr>
          <p:cNvPr id="30" name="Group 30"/>
          <p:cNvGrpSpPr/>
          <p:nvPr/>
        </p:nvGrpSpPr>
        <p:grpSpPr>
          <a:xfrm>
            <a:off x="5546428" y="5712937"/>
            <a:ext cx="1297680" cy="1199866"/>
            <a:chOff x="0" y="0"/>
            <a:chExt cx="879060" cy="812800"/>
          </a:xfrm>
        </p:grpSpPr>
        <p:sp>
          <p:nvSpPr>
            <p:cNvPr id="31" name="Freeform 31"/>
            <p:cNvSpPr/>
            <p:nvPr/>
          </p:nvSpPr>
          <p:spPr>
            <a:xfrm>
              <a:off x="0" y="0"/>
              <a:ext cx="879060" cy="812800"/>
            </a:xfrm>
            <a:custGeom>
              <a:avLst/>
              <a:gdLst/>
              <a:ahLst/>
              <a:cxnLst/>
              <a:rect l="l" t="t" r="r" b="b"/>
              <a:pathLst>
                <a:path w="879060" h="812800">
                  <a:moveTo>
                    <a:pt x="439530" y="0"/>
                  </a:moveTo>
                  <a:cubicBezTo>
                    <a:pt x="196784" y="0"/>
                    <a:pt x="0" y="181951"/>
                    <a:pt x="0" y="406400"/>
                  </a:cubicBezTo>
                  <a:cubicBezTo>
                    <a:pt x="0" y="630849"/>
                    <a:pt x="196784" y="812800"/>
                    <a:pt x="439530" y="812800"/>
                  </a:cubicBezTo>
                  <a:cubicBezTo>
                    <a:pt x="682276" y="812800"/>
                    <a:pt x="879060" y="630849"/>
                    <a:pt x="879060" y="406400"/>
                  </a:cubicBezTo>
                  <a:cubicBezTo>
                    <a:pt x="879060" y="181951"/>
                    <a:pt x="682276" y="0"/>
                    <a:pt x="439530" y="0"/>
                  </a:cubicBezTo>
                  <a:close/>
                </a:path>
              </a:pathLst>
            </a:custGeom>
            <a:solidFill>
              <a:srgbClr val="F8D133"/>
            </a:solidFill>
          </p:spPr>
        </p:sp>
        <p:sp>
          <p:nvSpPr>
            <p:cNvPr id="32" name="TextBox 32"/>
            <p:cNvSpPr txBox="1"/>
            <p:nvPr/>
          </p:nvSpPr>
          <p:spPr>
            <a:xfrm>
              <a:off x="82412" y="9525"/>
              <a:ext cx="714236" cy="727075"/>
            </a:xfrm>
            <a:prstGeom prst="rect">
              <a:avLst/>
            </a:prstGeom>
          </p:spPr>
          <p:txBody>
            <a:bodyPr lIns="50800" tIns="50800" rIns="50800" bIns="50800" rtlCol="0" anchor="ctr"/>
            <a:lstStyle/>
            <a:p>
              <a:pPr algn="ctr">
                <a:lnSpc>
                  <a:spcPts val="3015"/>
                </a:lnSpc>
              </a:pPr>
              <a:endParaRPr/>
            </a:p>
          </p:txBody>
        </p:sp>
      </p:grpSp>
      <p:sp>
        <p:nvSpPr>
          <p:cNvPr id="33" name="TextBox 33"/>
          <p:cNvSpPr txBox="1"/>
          <p:nvPr/>
        </p:nvSpPr>
        <p:spPr>
          <a:xfrm>
            <a:off x="5576569" y="6181227"/>
            <a:ext cx="1267539" cy="307270"/>
          </a:xfrm>
          <a:prstGeom prst="rect">
            <a:avLst/>
          </a:prstGeom>
        </p:spPr>
        <p:txBody>
          <a:bodyPr lIns="0" tIns="0" rIns="0" bIns="0" rtlCol="0" anchor="t">
            <a:spAutoFit/>
          </a:bodyPr>
          <a:lstStyle/>
          <a:p>
            <a:pPr algn="ctr">
              <a:lnSpc>
                <a:spcPts val="2435"/>
              </a:lnSpc>
            </a:pPr>
            <a:r>
              <a:rPr lang="en-US" sz="1739" b="1">
                <a:solidFill>
                  <a:srgbClr val="000000"/>
                </a:solidFill>
                <a:latin typeface="Poppins Semi-Bold"/>
                <a:ea typeface="Poppins Semi-Bold"/>
                <a:cs typeface="Poppins Semi-Bold"/>
                <a:sym typeface="Poppins Semi-Bold"/>
              </a:rPr>
              <a:t>Location</a:t>
            </a:r>
          </a:p>
        </p:txBody>
      </p:sp>
      <p:sp>
        <p:nvSpPr>
          <p:cNvPr id="34" name="TextBox 34"/>
          <p:cNvSpPr txBox="1"/>
          <p:nvPr/>
        </p:nvSpPr>
        <p:spPr>
          <a:xfrm>
            <a:off x="2649975" y="9055648"/>
            <a:ext cx="12117766" cy="542925"/>
          </a:xfrm>
          <a:prstGeom prst="rect">
            <a:avLst/>
          </a:prstGeom>
        </p:spPr>
        <p:txBody>
          <a:bodyPr lIns="0" tIns="0" rIns="0" bIns="0" rtlCol="0" anchor="t">
            <a:spAutoFit/>
          </a:bodyPr>
          <a:lstStyle/>
          <a:p>
            <a:pPr algn="ctr">
              <a:lnSpc>
                <a:spcPts val="4200"/>
              </a:lnSpc>
            </a:pPr>
            <a:r>
              <a:rPr lang="en-US" sz="3000">
                <a:solidFill>
                  <a:srgbClr val="000000"/>
                </a:solidFill>
                <a:latin typeface="Poppins"/>
                <a:ea typeface="Poppins"/>
                <a:cs typeface="Poppins"/>
                <a:sym typeface="Poppins"/>
              </a:rPr>
              <a:t>Extract key insights to Improve Safety analysis, traffic planning.</a:t>
            </a:r>
          </a:p>
        </p:txBody>
      </p:sp>
      <p:sp>
        <p:nvSpPr>
          <p:cNvPr id="35" name="TextBox 35"/>
          <p:cNvSpPr txBox="1"/>
          <p:nvPr/>
        </p:nvSpPr>
        <p:spPr>
          <a:xfrm>
            <a:off x="539351" y="8369755"/>
            <a:ext cx="3257652" cy="523968"/>
          </a:xfrm>
          <a:prstGeom prst="rect">
            <a:avLst/>
          </a:prstGeom>
        </p:spPr>
        <p:txBody>
          <a:bodyPr lIns="0" tIns="0" rIns="0" bIns="0" rtlCol="0" anchor="t">
            <a:spAutoFit/>
          </a:bodyPr>
          <a:lstStyle/>
          <a:p>
            <a:pPr algn="l">
              <a:lnSpc>
                <a:spcPts val="4194"/>
              </a:lnSpc>
            </a:pPr>
            <a:r>
              <a:rPr lang="en-US" sz="2996" b="1">
                <a:solidFill>
                  <a:srgbClr val="000000"/>
                </a:solidFill>
                <a:latin typeface="Poppins Semi-Bold"/>
                <a:ea typeface="Poppins Semi-Bold"/>
                <a:cs typeface="Poppins Semi-Bold"/>
                <a:sym typeface="Poppins Semi-Bold"/>
              </a:rPr>
              <a:t>Objective: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640714" y="561256"/>
            <a:ext cx="6312578" cy="1674495"/>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Trend Over Time</a:t>
            </a:r>
          </a:p>
        </p:txBody>
      </p:sp>
      <p:sp>
        <p:nvSpPr>
          <p:cNvPr id="3" name="Freeform 3"/>
          <p:cNvSpPr/>
          <p:nvPr/>
        </p:nvSpPr>
        <p:spPr>
          <a:xfrm>
            <a:off x="1948467" y="2378749"/>
            <a:ext cx="12544183" cy="6680507"/>
          </a:xfrm>
          <a:custGeom>
            <a:avLst/>
            <a:gdLst/>
            <a:ahLst/>
            <a:cxnLst/>
            <a:rect l="l" t="t" r="r" b="b"/>
            <a:pathLst>
              <a:path w="12544183" h="6680507">
                <a:moveTo>
                  <a:pt x="0" y="0"/>
                </a:moveTo>
                <a:lnTo>
                  <a:pt x="12544183" y="0"/>
                </a:lnTo>
                <a:lnTo>
                  <a:pt x="12544183" y="6680507"/>
                </a:lnTo>
                <a:lnTo>
                  <a:pt x="0" y="6680507"/>
                </a:lnTo>
                <a:lnTo>
                  <a:pt x="0" y="0"/>
                </a:lnTo>
                <a:close/>
              </a:path>
            </a:pathLst>
          </a:custGeom>
          <a:blipFill>
            <a:blip r:embed="rId3"/>
            <a:stretch>
              <a:fillRect l="-1192" t="-2809" r="-1416" b="-3491"/>
            </a:stretch>
          </a:blipFill>
        </p:spPr>
      </p:sp>
      <p:sp>
        <p:nvSpPr>
          <p:cNvPr id="4" name="AutoShape 4"/>
          <p:cNvSpPr/>
          <p:nvPr/>
        </p:nvSpPr>
        <p:spPr>
          <a:xfrm>
            <a:off x="13574023" y="5699029"/>
            <a:ext cx="1457103" cy="19973"/>
          </a:xfrm>
          <a:prstGeom prst="line">
            <a:avLst/>
          </a:prstGeom>
          <a:ln w="47625" cap="flat">
            <a:solidFill>
              <a:srgbClr val="000000"/>
            </a:solidFill>
            <a:prstDash val="solid"/>
            <a:headEnd type="none" w="sm" len="sm"/>
            <a:tailEnd type="arrow" w="med" len="sm"/>
          </a:ln>
        </p:spPr>
      </p:sp>
      <p:grpSp>
        <p:nvGrpSpPr>
          <p:cNvPr id="5" name="Group 5"/>
          <p:cNvGrpSpPr/>
          <p:nvPr/>
        </p:nvGrpSpPr>
        <p:grpSpPr>
          <a:xfrm>
            <a:off x="13810700" y="-849267"/>
            <a:ext cx="1791134" cy="179113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7" name="TextBox 7"/>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8" name="Group 8"/>
          <p:cNvGrpSpPr/>
          <p:nvPr/>
        </p:nvGrpSpPr>
        <p:grpSpPr>
          <a:xfrm>
            <a:off x="17602893" y="1060666"/>
            <a:ext cx="750130" cy="749321"/>
            <a:chOff x="0" y="0"/>
            <a:chExt cx="812800" cy="811923"/>
          </a:xfrm>
        </p:grpSpPr>
        <p:sp>
          <p:nvSpPr>
            <p:cNvPr id="9" name="Freeform 9"/>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10" name="TextBox 10"/>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11" name="Freeform 11"/>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4"/>
            <a:stretch>
              <a:fillRect/>
            </a:stretch>
          </a:blipFill>
        </p:spPr>
      </p:sp>
      <p:grpSp>
        <p:nvGrpSpPr>
          <p:cNvPr id="12" name="Group 12"/>
          <p:cNvGrpSpPr/>
          <p:nvPr/>
        </p:nvGrpSpPr>
        <p:grpSpPr>
          <a:xfrm>
            <a:off x="15413085" y="4840305"/>
            <a:ext cx="1757395" cy="175739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C400"/>
            </a:solidFill>
          </p:spPr>
        </p:sp>
        <p:sp>
          <p:nvSpPr>
            <p:cNvPr id="14" name="TextBox 14"/>
            <p:cNvSpPr txBox="1"/>
            <p:nvPr/>
          </p:nvSpPr>
          <p:spPr>
            <a:xfrm>
              <a:off x="76200" y="9525"/>
              <a:ext cx="660400" cy="727075"/>
            </a:xfrm>
            <a:prstGeom prst="rect">
              <a:avLst/>
            </a:prstGeom>
          </p:spPr>
          <p:txBody>
            <a:bodyPr lIns="50800" tIns="50800" rIns="50800" bIns="50800" rtlCol="0" anchor="ctr"/>
            <a:lstStyle/>
            <a:p>
              <a:pPr algn="ctr">
                <a:lnSpc>
                  <a:spcPts val="3155"/>
                </a:lnSpc>
              </a:pPr>
              <a:endParaRPr/>
            </a:p>
          </p:txBody>
        </p:sp>
      </p:grpSp>
      <p:sp>
        <p:nvSpPr>
          <p:cNvPr id="15" name="Freeform 15"/>
          <p:cNvSpPr/>
          <p:nvPr/>
        </p:nvSpPr>
        <p:spPr>
          <a:xfrm>
            <a:off x="16097013" y="5092952"/>
            <a:ext cx="481277" cy="626051"/>
          </a:xfrm>
          <a:custGeom>
            <a:avLst/>
            <a:gdLst/>
            <a:ahLst/>
            <a:cxnLst/>
            <a:rect l="l" t="t" r="r" b="b"/>
            <a:pathLst>
              <a:path w="481277" h="626051">
                <a:moveTo>
                  <a:pt x="0" y="0"/>
                </a:moveTo>
                <a:lnTo>
                  <a:pt x="481277" y="0"/>
                </a:lnTo>
                <a:lnTo>
                  <a:pt x="481277" y="626050"/>
                </a:lnTo>
                <a:lnTo>
                  <a:pt x="0" y="6260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TextBox 16"/>
          <p:cNvSpPr txBox="1"/>
          <p:nvPr/>
        </p:nvSpPr>
        <p:spPr>
          <a:xfrm>
            <a:off x="15756060" y="5747577"/>
            <a:ext cx="1208932" cy="524883"/>
          </a:xfrm>
          <a:prstGeom prst="rect">
            <a:avLst/>
          </a:prstGeom>
        </p:spPr>
        <p:txBody>
          <a:bodyPr lIns="0" tIns="0" rIns="0" bIns="0" rtlCol="0" anchor="t">
            <a:spAutoFit/>
          </a:bodyPr>
          <a:lstStyle/>
          <a:p>
            <a:pPr algn="ctr">
              <a:lnSpc>
                <a:spcPts val="4144"/>
              </a:lnSpc>
            </a:pPr>
            <a:r>
              <a:rPr lang="en-US" sz="2960" b="1">
                <a:solidFill>
                  <a:srgbClr val="000000"/>
                </a:solidFill>
                <a:latin typeface="Poppins Medium"/>
                <a:ea typeface="Poppins Medium"/>
                <a:cs typeface="Poppins Medium"/>
                <a:sym typeface="Poppins Medium"/>
              </a:rPr>
              <a:t>27.7%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2430495" y="2405330"/>
            <a:ext cx="11754497" cy="7192105"/>
          </a:xfrm>
          <a:custGeom>
            <a:avLst/>
            <a:gdLst/>
            <a:ahLst/>
            <a:cxnLst/>
            <a:rect l="l" t="t" r="r" b="b"/>
            <a:pathLst>
              <a:path w="11754497" h="7192105">
                <a:moveTo>
                  <a:pt x="0" y="0"/>
                </a:moveTo>
                <a:lnTo>
                  <a:pt x="11754497" y="0"/>
                </a:lnTo>
                <a:lnTo>
                  <a:pt x="11754497" y="7192105"/>
                </a:lnTo>
                <a:lnTo>
                  <a:pt x="0" y="7192105"/>
                </a:lnTo>
                <a:lnTo>
                  <a:pt x="0" y="0"/>
                </a:lnTo>
                <a:close/>
              </a:path>
            </a:pathLst>
          </a:custGeom>
          <a:blipFill>
            <a:blip r:embed="rId3"/>
            <a:stretch>
              <a:fillRect l="-893" t="-952" r="-1513" b="-1818"/>
            </a:stretch>
          </a:blipFill>
        </p:spPr>
      </p:sp>
      <p:sp>
        <p:nvSpPr>
          <p:cNvPr id="3" name="TextBox 3"/>
          <p:cNvSpPr txBox="1"/>
          <p:nvPr/>
        </p:nvSpPr>
        <p:spPr>
          <a:xfrm>
            <a:off x="640714" y="561256"/>
            <a:ext cx="6312578" cy="1674495"/>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Trend Over Time</a:t>
            </a:r>
          </a:p>
        </p:txBody>
      </p:sp>
      <p:sp>
        <p:nvSpPr>
          <p:cNvPr id="4" name="AutoShape 4"/>
          <p:cNvSpPr/>
          <p:nvPr/>
        </p:nvSpPr>
        <p:spPr>
          <a:xfrm>
            <a:off x="13589709" y="6045676"/>
            <a:ext cx="1451662" cy="19899"/>
          </a:xfrm>
          <a:prstGeom prst="line">
            <a:avLst/>
          </a:prstGeom>
          <a:ln w="47625" cap="flat">
            <a:solidFill>
              <a:srgbClr val="000000"/>
            </a:solidFill>
            <a:prstDash val="solid"/>
            <a:headEnd type="none" w="sm" len="sm"/>
            <a:tailEnd type="arrow" w="med" len="sm"/>
          </a:ln>
        </p:spPr>
      </p:sp>
      <p:grpSp>
        <p:nvGrpSpPr>
          <p:cNvPr id="5" name="Group 5"/>
          <p:cNvGrpSpPr/>
          <p:nvPr/>
        </p:nvGrpSpPr>
        <p:grpSpPr>
          <a:xfrm>
            <a:off x="13810700" y="-849267"/>
            <a:ext cx="1791134" cy="179113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7" name="TextBox 7"/>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8" name="Group 8"/>
          <p:cNvGrpSpPr/>
          <p:nvPr/>
        </p:nvGrpSpPr>
        <p:grpSpPr>
          <a:xfrm>
            <a:off x="17602893" y="1060666"/>
            <a:ext cx="750130" cy="749321"/>
            <a:chOff x="0" y="0"/>
            <a:chExt cx="812800" cy="811923"/>
          </a:xfrm>
        </p:grpSpPr>
        <p:sp>
          <p:nvSpPr>
            <p:cNvPr id="9" name="Freeform 9"/>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10" name="TextBox 10"/>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11" name="Freeform 11"/>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4"/>
            <a:stretch>
              <a:fillRect/>
            </a:stretch>
          </a:blipFill>
        </p:spPr>
      </p:sp>
      <p:grpSp>
        <p:nvGrpSpPr>
          <p:cNvPr id="12" name="Group 12"/>
          <p:cNvGrpSpPr/>
          <p:nvPr/>
        </p:nvGrpSpPr>
        <p:grpSpPr>
          <a:xfrm>
            <a:off x="15413085" y="5100562"/>
            <a:ext cx="1757395" cy="175739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C400"/>
            </a:solidFill>
          </p:spPr>
        </p:sp>
        <p:sp>
          <p:nvSpPr>
            <p:cNvPr id="14" name="TextBox 14"/>
            <p:cNvSpPr txBox="1"/>
            <p:nvPr/>
          </p:nvSpPr>
          <p:spPr>
            <a:xfrm>
              <a:off x="76200" y="9525"/>
              <a:ext cx="660400" cy="727075"/>
            </a:xfrm>
            <a:prstGeom prst="rect">
              <a:avLst/>
            </a:prstGeom>
          </p:spPr>
          <p:txBody>
            <a:bodyPr lIns="50800" tIns="50800" rIns="50800" bIns="50800" rtlCol="0" anchor="ctr"/>
            <a:lstStyle/>
            <a:p>
              <a:pPr algn="ctr">
                <a:lnSpc>
                  <a:spcPts val="3155"/>
                </a:lnSpc>
              </a:pPr>
              <a:endParaRPr/>
            </a:p>
          </p:txBody>
        </p:sp>
      </p:grpSp>
      <p:sp>
        <p:nvSpPr>
          <p:cNvPr id="15" name="Freeform 15"/>
          <p:cNvSpPr/>
          <p:nvPr/>
        </p:nvSpPr>
        <p:spPr>
          <a:xfrm>
            <a:off x="16106538" y="5353209"/>
            <a:ext cx="481277" cy="626051"/>
          </a:xfrm>
          <a:custGeom>
            <a:avLst/>
            <a:gdLst/>
            <a:ahLst/>
            <a:cxnLst/>
            <a:rect l="l" t="t" r="r" b="b"/>
            <a:pathLst>
              <a:path w="481277" h="626051">
                <a:moveTo>
                  <a:pt x="0" y="0"/>
                </a:moveTo>
                <a:lnTo>
                  <a:pt x="481277" y="0"/>
                </a:lnTo>
                <a:lnTo>
                  <a:pt x="481277" y="626050"/>
                </a:lnTo>
                <a:lnTo>
                  <a:pt x="0" y="6260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TextBox 16"/>
          <p:cNvSpPr txBox="1"/>
          <p:nvPr/>
        </p:nvSpPr>
        <p:spPr>
          <a:xfrm>
            <a:off x="15756060" y="6017950"/>
            <a:ext cx="1208932" cy="524883"/>
          </a:xfrm>
          <a:prstGeom prst="rect">
            <a:avLst/>
          </a:prstGeom>
        </p:spPr>
        <p:txBody>
          <a:bodyPr lIns="0" tIns="0" rIns="0" bIns="0" rtlCol="0" anchor="t">
            <a:spAutoFit/>
          </a:bodyPr>
          <a:lstStyle/>
          <a:p>
            <a:pPr algn="ctr">
              <a:lnSpc>
                <a:spcPts val="4144"/>
              </a:lnSpc>
            </a:pPr>
            <a:r>
              <a:rPr lang="en-US" sz="2960" b="1">
                <a:solidFill>
                  <a:srgbClr val="000000"/>
                </a:solidFill>
                <a:latin typeface="Poppins Medium"/>
                <a:ea typeface="Poppins Medium"/>
                <a:cs typeface="Poppins Medium"/>
                <a:sym typeface="Poppins Medium"/>
              </a:rPr>
              <a:t>39%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3810700" y="-849267"/>
            <a:ext cx="1791134" cy="17911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17602893" y="1060666"/>
            <a:ext cx="750130" cy="749321"/>
            <a:chOff x="0" y="0"/>
            <a:chExt cx="812800" cy="811923"/>
          </a:xfrm>
        </p:grpSpPr>
        <p:sp>
          <p:nvSpPr>
            <p:cNvPr id="6" name="Freeform 6"/>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7" name="TextBox 7"/>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8" name="Freeform 8"/>
          <p:cNvSpPr/>
          <p:nvPr/>
        </p:nvSpPr>
        <p:spPr>
          <a:xfrm>
            <a:off x="4639469" y="1609667"/>
            <a:ext cx="10471338" cy="8414468"/>
          </a:xfrm>
          <a:custGeom>
            <a:avLst/>
            <a:gdLst/>
            <a:ahLst/>
            <a:cxnLst/>
            <a:rect l="l" t="t" r="r" b="b"/>
            <a:pathLst>
              <a:path w="10471338" h="8414468">
                <a:moveTo>
                  <a:pt x="0" y="0"/>
                </a:moveTo>
                <a:lnTo>
                  <a:pt x="10471337" y="0"/>
                </a:lnTo>
                <a:lnTo>
                  <a:pt x="10471337" y="8414468"/>
                </a:lnTo>
                <a:lnTo>
                  <a:pt x="0" y="8414468"/>
                </a:lnTo>
                <a:lnTo>
                  <a:pt x="0" y="0"/>
                </a:lnTo>
                <a:close/>
              </a:path>
            </a:pathLst>
          </a:custGeom>
          <a:blipFill>
            <a:blip r:embed="rId3"/>
            <a:stretch>
              <a:fillRect l="-903" t="-697" r="-345" b="-1047"/>
            </a:stretch>
          </a:blipFill>
        </p:spPr>
      </p:sp>
      <p:sp>
        <p:nvSpPr>
          <p:cNvPr id="9" name="Freeform 9"/>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4"/>
            <a:stretch>
              <a:fillRect/>
            </a:stretch>
          </a:blipFill>
        </p:spPr>
      </p:sp>
      <p:sp>
        <p:nvSpPr>
          <p:cNvPr id="10" name="TextBox 10"/>
          <p:cNvSpPr txBox="1"/>
          <p:nvPr/>
        </p:nvSpPr>
        <p:spPr>
          <a:xfrm>
            <a:off x="640714" y="561256"/>
            <a:ext cx="6312578" cy="1674495"/>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Geographical Focus</a:t>
            </a:r>
          </a:p>
        </p:txBody>
      </p:sp>
      <p:sp>
        <p:nvSpPr>
          <p:cNvPr id="11" name="TextBox 11"/>
          <p:cNvSpPr txBox="1"/>
          <p:nvPr/>
        </p:nvSpPr>
        <p:spPr>
          <a:xfrm>
            <a:off x="5726514" y="6068702"/>
            <a:ext cx="424325" cy="186690"/>
          </a:xfrm>
          <a:prstGeom prst="rect">
            <a:avLst/>
          </a:prstGeom>
        </p:spPr>
        <p:txBody>
          <a:bodyPr lIns="0" tIns="0" rIns="0" bIns="0" rtlCol="0" anchor="t">
            <a:spAutoFit/>
          </a:bodyPr>
          <a:lstStyle/>
          <a:p>
            <a:pPr algn="ctr">
              <a:lnSpc>
                <a:spcPts val="1304"/>
              </a:lnSpc>
            </a:pPr>
            <a:r>
              <a:rPr lang="en-US" sz="1124" b="1">
                <a:solidFill>
                  <a:srgbClr val="FBF9F0"/>
                </a:solidFill>
                <a:latin typeface="Poppins Bold"/>
                <a:ea typeface="Poppins Bold"/>
                <a:cs typeface="Poppins Bold"/>
                <a:sym typeface="Poppins Bold"/>
              </a:rPr>
              <a:t>CA</a:t>
            </a:r>
          </a:p>
        </p:txBody>
      </p:sp>
      <p:sp>
        <p:nvSpPr>
          <p:cNvPr id="12" name="TextBox 12"/>
          <p:cNvSpPr txBox="1"/>
          <p:nvPr/>
        </p:nvSpPr>
        <p:spPr>
          <a:xfrm>
            <a:off x="13001895" y="8396338"/>
            <a:ext cx="381251" cy="186690"/>
          </a:xfrm>
          <a:prstGeom prst="rect">
            <a:avLst/>
          </a:prstGeom>
        </p:spPr>
        <p:txBody>
          <a:bodyPr lIns="0" tIns="0" rIns="0" bIns="0" rtlCol="0" anchor="t">
            <a:spAutoFit/>
          </a:bodyPr>
          <a:lstStyle/>
          <a:p>
            <a:pPr algn="ctr">
              <a:lnSpc>
                <a:spcPts val="1304"/>
              </a:lnSpc>
            </a:pPr>
            <a:r>
              <a:rPr lang="en-US" sz="1124" b="1">
                <a:solidFill>
                  <a:srgbClr val="68655A"/>
                </a:solidFill>
                <a:latin typeface="Poppins Bold"/>
                <a:ea typeface="Poppins Bold"/>
                <a:cs typeface="Poppins Bold"/>
                <a:sym typeface="Poppins Bold"/>
              </a:rPr>
              <a:t>FL</a:t>
            </a:r>
          </a:p>
        </p:txBody>
      </p:sp>
      <p:sp>
        <p:nvSpPr>
          <p:cNvPr id="13" name="TextBox 13"/>
          <p:cNvSpPr txBox="1"/>
          <p:nvPr/>
        </p:nvSpPr>
        <p:spPr>
          <a:xfrm>
            <a:off x="9449933" y="8312518"/>
            <a:ext cx="381251" cy="186690"/>
          </a:xfrm>
          <a:prstGeom prst="rect">
            <a:avLst/>
          </a:prstGeom>
        </p:spPr>
        <p:txBody>
          <a:bodyPr lIns="0" tIns="0" rIns="0" bIns="0" rtlCol="0" anchor="t">
            <a:spAutoFit/>
          </a:bodyPr>
          <a:lstStyle/>
          <a:p>
            <a:pPr algn="ctr">
              <a:lnSpc>
                <a:spcPts val="1304"/>
              </a:lnSpc>
            </a:pPr>
            <a:r>
              <a:rPr lang="en-US" sz="1124" b="1">
                <a:solidFill>
                  <a:srgbClr val="68655A"/>
                </a:solidFill>
                <a:latin typeface="Poppins Bold"/>
                <a:ea typeface="Poppins Bold"/>
                <a:cs typeface="Poppins Bold"/>
                <a:sym typeface="Poppins Bold"/>
              </a:rPr>
              <a:t>TX</a:t>
            </a:r>
          </a:p>
        </p:txBody>
      </p:sp>
      <p:sp>
        <p:nvSpPr>
          <p:cNvPr id="14" name="AutoShape 14"/>
          <p:cNvSpPr/>
          <p:nvPr/>
        </p:nvSpPr>
        <p:spPr>
          <a:xfrm flipH="1">
            <a:off x="4274716" y="5811416"/>
            <a:ext cx="1451798" cy="0"/>
          </a:xfrm>
          <a:prstGeom prst="line">
            <a:avLst/>
          </a:prstGeom>
          <a:ln w="47625" cap="flat">
            <a:solidFill>
              <a:srgbClr val="000000"/>
            </a:solidFill>
            <a:prstDash val="solid"/>
            <a:headEnd type="none" w="sm" len="sm"/>
            <a:tailEnd type="arrow" w="med" len="sm"/>
          </a:ln>
        </p:spPr>
      </p:sp>
      <p:grpSp>
        <p:nvGrpSpPr>
          <p:cNvPr id="15" name="Group 15"/>
          <p:cNvGrpSpPr/>
          <p:nvPr/>
        </p:nvGrpSpPr>
        <p:grpSpPr>
          <a:xfrm>
            <a:off x="2272214" y="4760290"/>
            <a:ext cx="1829024" cy="182902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F9106"/>
            </a:solidFill>
          </p:spPr>
        </p:sp>
        <p:sp>
          <p:nvSpPr>
            <p:cNvPr id="17" name="TextBox 17"/>
            <p:cNvSpPr txBox="1"/>
            <p:nvPr/>
          </p:nvSpPr>
          <p:spPr>
            <a:xfrm>
              <a:off x="76200" y="9525"/>
              <a:ext cx="660400" cy="727075"/>
            </a:xfrm>
            <a:prstGeom prst="rect">
              <a:avLst/>
            </a:prstGeom>
          </p:spPr>
          <p:txBody>
            <a:bodyPr lIns="50800" tIns="50800" rIns="50800" bIns="50800" rtlCol="0" anchor="ctr"/>
            <a:lstStyle/>
            <a:p>
              <a:pPr algn="ctr">
                <a:lnSpc>
                  <a:spcPts val="3155"/>
                </a:lnSpc>
              </a:pPr>
              <a:endParaRPr/>
            </a:p>
          </p:txBody>
        </p:sp>
      </p:grpSp>
      <p:sp>
        <p:nvSpPr>
          <p:cNvPr id="18" name="TextBox 18"/>
          <p:cNvSpPr txBox="1"/>
          <p:nvPr/>
        </p:nvSpPr>
        <p:spPr>
          <a:xfrm>
            <a:off x="2743200" y="5443060"/>
            <a:ext cx="900029" cy="386240"/>
          </a:xfrm>
          <a:prstGeom prst="rect">
            <a:avLst/>
          </a:prstGeom>
        </p:spPr>
        <p:txBody>
          <a:bodyPr lIns="0" tIns="0" rIns="0" bIns="0" rtlCol="0" anchor="t">
            <a:spAutoFit/>
          </a:bodyPr>
          <a:lstStyle/>
          <a:p>
            <a:pPr algn="ctr">
              <a:lnSpc>
                <a:spcPts val="3095"/>
              </a:lnSpc>
            </a:pPr>
            <a:r>
              <a:rPr lang="en-US" sz="2211" b="1" dirty="0">
                <a:solidFill>
                  <a:srgbClr val="FFFFFF"/>
                </a:solidFill>
                <a:latin typeface="Poppins Bold"/>
                <a:ea typeface="Poppins Bold"/>
                <a:cs typeface="Poppins Bold"/>
                <a:sym typeface="Poppins Bold"/>
              </a:rPr>
              <a:t>17x</a:t>
            </a:r>
          </a:p>
        </p:txBody>
      </p:sp>
      <p:sp>
        <p:nvSpPr>
          <p:cNvPr id="19" name="Freeform 19"/>
          <p:cNvSpPr/>
          <p:nvPr/>
        </p:nvSpPr>
        <p:spPr>
          <a:xfrm>
            <a:off x="3024366" y="4932032"/>
            <a:ext cx="324719" cy="422399"/>
          </a:xfrm>
          <a:custGeom>
            <a:avLst/>
            <a:gdLst/>
            <a:ahLst/>
            <a:cxnLst/>
            <a:rect l="l" t="t" r="r" b="b"/>
            <a:pathLst>
              <a:path w="324719" h="422399">
                <a:moveTo>
                  <a:pt x="0" y="0"/>
                </a:moveTo>
                <a:lnTo>
                  <a:pt x="324719" y="0"/>
                </a:lnTo>
                <a:lnTo>
                  <a:pt x="324719" y="422399"/>
                </a:lnTo>
                <a:lnTo>
                  <a:pt x="0" y="42239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0" name="Group 20"/>
          <p:cNvGrpSpPr/>
          <p:nvPr/>
        </p:nvGrpSpPr>
        <p:grpSpPr>
          <a:xfrm>
            <a:off x="2337395" y="6305115"/>
            <a:ext cx="1698662" cy="568397"/>
            <a:chOff x="0" y="0"/>
            <a:chExt cx="1161470" cy="388645"/>
          </a:xfrm>
        </p:grpSpPr>
        <p:sp>
          <p:nvSpPr>
            <p:cNvPr id="21" name="Freeform 21"/>
            <p:cNvSpPr/>
            <p:nvPr/>
          </p:nvSpPr>
          <p:spPr>
            <a:xfrm>
              <a:off x="0" y="0"/>
              <a:ext cx="1161470" cy="388645"/>
            </a:xfrm>
            <a:custGeom>
              <a:avLst/>
              <a:gdLst/>
              <a:ahLst/>
              <a:cxnLst/>
              <a:rect l="l" t="t" r="r" b="b"/>
              <a:pathLst>
                <a:path w="1161470" h="388645">
                  <a:moveTo>
                    <a:pt x="958270" y="0"/>
                  </a:moveTo>
                  <a:cubicBezTo>
                    <a:pt x="1070494" y="0"/>
                    <a:pt x="1161470" y="87001"/>
                    <a:pt x="1161470" y="194322"/>
                  </a:cubicBezTo>
                  <a:cubicBezTo>
                    <a:pt x="1161470" y="301644"/>
                    <a:pt x="1070494" y="388645"/>
                    <a:pt x="958270" y="388645"/>
                  </a:cubicBezTo>
                  <a:lnTo>
                    <a:pt x="203200" y="388645"/>
                  </a:lnTo>
                  <a:cubicBezTo>
                    <a:pt x="90976" y="388645"/>
                    <a:pt x="0" y="301644"/>
                    <a:pt x="0" y="194322"/>
                  </a:cubicBezTo>
                  <a:cubicBezTo>
                    <a:pt x="0" y="87001"/>
                    <a:pt x="90976" y="0"/>
                    <a:pt x="203200" y="0"/>
                  </a:cubicBezTo>
                  <a:close/>
                </a:path>
              </a:pathLst>
            </a:custGeom>
            <a:solidFill>
              <a:srgbClr val="F1F0EF">
                <a:alpha val="87843"/>
              </a:srgbClr>
            </a:solidFill>
          </p:spPr>
        </p:sp>
        <p:sp>
          <p:nvSpPr>
            <p:cNvPr id="22" name="TextBox 22"/>
            <p:cNvSpPr txBox="1"/>
            <p:nvPr/>
          </p:nvSpPr>
          <p:spPr>
            <a:xfrm>
              <a:off x="0" y="-19050"/>
              <a:ext cx="1161470" cy="407695"/>
            </a:xfrm>
            <a:prstGeom prst="rect">
              <a:avLst/>
            </a:prstGeom>
          </p:spPr>
          <p:txBody>
            <a:bodyPr lIns="50800" tIns="50800" rIns="50800" bIns="50800" rtlCol="0" anchor="ctr"/>
            <a:lstStyle/>
            <a:p>
              <a:pPr algn="ctr">
                <a:lnSpc>
                  <a:spcPts val="2079"/>
                </a:lnSpc>
              </a:pPr>
              <a:endParaRPr/>
            </a:p>
          </p:txBody>
        </p:sp>
      </p:grpSp>
      <p:sp>
        <p:nvSpPr>
          <p:cNvPr id="23" name="TextBox 23"/>
          <p:cNvSpPr txBox="1"/>
          <p:nvPr/>
        </p:nvSpPr>
        <p:spPr>
          <a:xfrm>
            <a:off x="2421026" y="6385703"/>
            <a:ext cx="1531399" cy="350073"/>
          </a:xfrm>
          <a:prstGeom prst="rect">
            <a:avLst/>
          </a:prstGeom>
        </p:spPr>
        <p:txBody>
          <a:bodyPr lIns="0" tIns="0" rIns="0" bIns="0" rtlCol="0" anchor="t">
            <a:spAutoFit/>
          </a:bodyPr>
          <a:lstStyle/>
          <a:p>
            <a:pPr algn="ctr">
              <a:lnSpc>
                <a:spcPts val="2770"/>
              </a:lnSpc>
            </a:pPr>
            <a:r>
              <a:rPr lang="en-US" sz="1979" b="1">
                <a:solidFill>
                  <a:srgbClr val="000000"/>
                </a:solidFill>
                <a:latin typeface="Poppins Bold"/>
                <a:ea typeface="Poppins Bold"/>
                <a:cs typeface="Poppins Bold"/>
                <a:sym typeface="Poppins Bold"/>
              </a:rPr>
              <a:t>1.7 H Avg D</a:t>
            </a:r>
          </a:p>
        </p:txBody>
      </p:sp>
      <p:sp>
        <p:nvSpPr>
          <p:cNvPr id="24" name="TextBox 24"/>
          <p:cNvSpPr txBox="1"/>
          <p:nvPr/>
        </p:nvSpPr>
        <p:spPr>
          <a:xfrm>
            <a:off x="2475798" y="5829300"/>
            <a:ext cx="1410402" cy="350282"/>
          </a:xfrm>
          <a:prstGeom prst="rect">
            <a:avLst/>
          </a:prstGeom>
        </p:spPr>
        <p:txBody>
          <a:bodyPr lIns="0" tIns="0" rIns="0" bIns="0" rtlCol="0" anchor="t">
            <a:spAutoFit/>
          </a:bodyPr>
          <a:lstStyle/>
          <a:p>
            <a:pPr algn="ctr">
              <a:lnSpc>
                <a:spcPts val="2718"/>
              </a:lnSpc>
            </a:pPr>
            <a:r>
              <a:rPr lang="en-US" sz="1941" dirty="0">
                <a:solidFill>
                  <a:srgbClr val="FFFFFF"/>
                </a:solidFill>
                <a:latin typeface="Poppins"/>
                <a:ea typeface="Poppins"/>
                <a:cs typeface="Poppins"/>
                <a:sym typeface="Poppins"/>
              </a:rPr>
              <a:t>California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3810700" y="-849267"/>
            <a:ext cx="1791134" cy="17911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17602893" y="1060666"/>
            <a:ext cx="750130" cy="749321"/>
            <a:chOff x="0" y="0"/>
            <a:chExt cx="812800" cy="811923"/>
          </a:xfrm>
        </p:grpSpPr>
        <p:sp>
          <p:nvSpPr>
            <p:cNvPr id="6" name="Freeform 6"/>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7" name="TextBox 7"/>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8" name="Freeform 8"/>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3"/>
            <a:stretch>
              <a:fillRect/>
            </a:stretch>
          </a:blipFill>
        </p:spPr>
      </p:sp>
      <p:sp>
        <p:nvSpPr>
          <p:cNvPr id="9" name="Freeform 9"/>
          <p:cNvSpPr/>
          <p:nvPr/>
        </p:nvSpPr>
        <p:spPr>
          <a:xfrm>
            <a:off x="2107884" y="2440125"/>
            <a:ext cx="14053183" cy="6818175"/>
          </a:xfrm>
          <a:custGeom>
            <a:avLst/>
            <a:gdLst/>
            <a:ahLst/>
            <a:cxnLst/>
            <a:rect l="l" t="t" r="r" b="b"/>
            <a:pathLst>
              <a:path w="14053183" h="6818175">
                <a:moveTo>
                  <a:pt x="0" y="0"/>
                </a:moveTo>
                <a:lnTo>
                  <a:pt x="14053182" y="0"/>
                </a:lnTo>
                <a:lnTo>
                  <a:pt x="14053182" y="6818175"/>
                </a:lnTo>
                <a:lnTo>
                  <a:pt x="0" y="6818175"/>
                </a:lnTo>
                <a:lnTo>
                  <a:pt x="0" y="0"/>
                </a:lnTo>
                <a:close/>
              </a:path>
            </a:pathLst>
          </a:custGeom>
          <a:blipFill>
            <a:blip r:embed="rId4"/>
            <a:stretch>
              <a:fillRect l="-1526" t="-1770" r="-1255" b="-1504"/>
            </a:stretch>
          </a:blipFill>
        </p:spPr>
      </p:sp>
      <p:sp>
        <p:nvSpPr>
          <p:cNvPr id="10" name="TextBox 10"/>
          <p:cNvSpPr txBox="1"/>
          <p:nvPr/>
        </p:nvSpPr>
        <p:spPr>
          <a:xfrm>
            <a:off x="640714" y="561256"/>
            <a:ext cx="6312578" cy="1674495"/>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Geographical Focus</a:t>
            </a:r>
          </a:p>
        </p:txBody>
      </p:sp>
      <p:sp>
        <p:nvSpPr>
          <p:cNvPr id="11" name="TextBox 11"/>
          <p:cNvSpPr txBox="1"/>
          <p:nvPr/>
        </p:nvSpPr>
        <p:spPr>
          <a:xfrm>
            <a:off x="14249400" y="3283876"/>
            <a:ext cx="900029" cy="243015"/>
          </a:xfrm>
          <a:prstGeom prst="rect">
            <a:avLst/>
          </a:prstGeom>
        </p:spPr>
        <p:txBody>
          <a:bodyPr lIns="0" tIns="0" rIns="0" bIns="0" rtlCol="0" anchor="t">
            <a:spAutoFit/>
          </a:bodyPr>
          <a:lstStyle/>
          <a:p>
            <a:pPr algn="ctr">
              <a:lnSpc>
                <a:spcPts val="1976"/>
              </a:lnSpc>
            </a:pPr>
            <a:r>
              <a:rPr lang="en-US" sz="1411" b="1" dirty="0">
                <a:solidFill>
                  <a:srgbClr val="C00000"/>
                </a:solidFill>
                <a:latin typeface="Poppins Bold"/>
                <a:ea typeface="Poppins Bold"/>
                <a:cs typeface="Poppins Bold"/>
                <a:sym typeface="Poppins Bold"/>
              </a:rPr>
              <a:t>390%</a:t>
            </a:r>
          </a:p>
        </p:txBody>
      </p:sp>
      <p:sp>
        <p:nvSpPr>
          <p:cNvPr id="12" name="Freeform 12"/>
          <p:cNvSpPr/>
          <p:nvPr/>
        </p:nvSpPr>
        <p:spPr>
          <a:xfrm>
            <a:off x="14534281" y="2933700"/>
            <a:ext cx="248519" cy="304800"/>
          </a:xfrm>
          <a:custGeom>
            <a:avLst/>
            <a:gdLst/>
            <a:ahLst/>
            <a:cxnLst/>
            <a:rect l="l" t="t" r="r" b="b"/>
            <a:pathLst>
              <a:path w="324719" h="422399">
                <a:moveTo>
                  <a:pt x="0" y="0"/>
                </a:moveTo>
                <a:lnTo>
                  <a:pt x="324719" y="0"/>
                </a:lnTo>
                <a:lnTo>
                  <a:pt x="324719" y="422399"/>
                </a:lnTo>
                <a:lnTo>
                  <a:pt x="0" y="42239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3810700" y="-849267"/>
            <a:ext cx="1791134" cy="17911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17602893" y="1060666"/>
            <a:ext cx="750130" cy="749321"/>
            <a:chOff x="0" y="0"/>
            <a:chExt cx="812800" cy="811923"/>
          </a:xfrm>
        </p:grpSpPr>
        <p:sp>
          <p:nvSpPr>
            <p:cNvPr id="6" name="Freeform 6"/>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7" name="TextBox 7"/>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8" name="Freeform 8"/>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3"/>
            <a:stretch>
              <a:fillRect/>
            </a:stretch>
          </a:blipFill>
        </p:spPr>
      </p:sp>
      <p:sp>
        <p:nvSpPr>
          <p:cNvPr id="10" name="TextBox 10"/>
          <p:cNvSpPr txBox="1"/>
          <p:nvPr/>
        </p:nvSpPr>
        <p:spPr>
          <a:xfrm>
            <a:off x="640714" y="504669"/>
            <a:ext cx="8503286" cy="883920"/>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LA- Deep Dive</a:t>
            </a:r>
          </a:p>
        </p:txBody>
      </p:sp>
      <p:pic>
        <p:nvPicPr>
          <p:cNvPr id="13" name="Picture 12">
            <a:extLst>
              <a:ext uri="{FF2B5EF4-FFF2-40B4-BE49-F238E27FC236}">
                <a16:creationId xmlns:a16="http://schemas.microsoft.com/office/drawing/2014/main" id="{ED97DF6D-2801-5836-3557-95CAAA9EF8E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385718" y="1836364"/>
            <a:ext cx="13516563" cy="76741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3810700" y="-849267"/>
            <a:ext cx="1791134" cy="17911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17602893" y="1060666"/>
            <a:ext cx="750130" cy="749321"/>
            <a:chOff x="0" y="0"/>
            <a:chExt cx="812800" cy="811923"/>
          </a:xfrm>
        </p:grpSpPr>
        <p:sp>
          <p:nvSpPr>
            <p:cNvPr id="6" name="Freeform 6"/>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7" name="TextBox 7"/>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8" name="Freeform 8"/>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3"/>
            <a:stretch>
              <a:fillRect/>
            </a:stretch>
          </a:blipFill>
        </p:spPr>
      </p:sp>
      <p:sp>
        <p:nvSpPr>
          <p:cNvPr id="9" name="Freeform 9"/>
          <p:cNvSpPr/>
          <p:nvPr/>
        </p:nvSpPr>
        <p:spPr>
          <a:xfrm>
            <a:off x="3339186" y="1812918"/>
            <a:ext cx="11609628" cy="7399043"/>
          </a:xfrm>
          <a:custGeom>
            <a:avLst/>
            <a:gdLst/>
            <a:ahLst/>
            <a:cxnLst/>
            <a:rect l="l" t="t" r="r" b="b"/>
            <a:pathLst>
              <a:path w="11811630" h="8213385">
                <a:moveTo>
                  <a:pt x="0" y="0"/>
                </a:moveTo>
                <a:lnTo>
                  <a:pt x="11811629" y="0"/>
                </a:lnTo>
                <a:lnTo>
                  <a:pt x="11811629" y="8213385"/>
                </a:lnTo>
                <a:lnTo>
                  <a:pt x="0" y="8213385"/>
                </a:lnTo>
                <a:lnTo>
                  <a:pt x="0" y="0"/>
                </a:lnTo>
                <a:close/>
              </a:path>
            </a:pathLst>
          </a:custGeom>
          <a:blipFill>
            <a:blip r:embed="rId4"/>
            <a:stretch>
              <a:fillRect l="-1459" t="-1577" r="-423" b="-2161"/>
            </a:stretch>
          </a:blipFill>
        </p:spPr>
      </p:sp>
      <p:sp>
        <p:nvSpPr>
          <p:cNvPr id="10" name="TextBox 10"/>
          <p:cNvSpPr txBox="1"/>
          <p:nvPr/>
        </p:nvSpPr>
        <p:spPr>
          <a:xfrm>
            <a:off x="640714" y="504669"/>
            <a:ext cx="8503286" cy="883920"/>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LA- Deep Dive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3810700" y="-849267"/>
            <a:ext cx="1791134" cy="17911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17602893" y="1060666"/>
            <a:ext cx="750130" cy="749321"/>
            <a:chOff x="0" y="0"/>
            <a:chExt cx="812800" cy="811923"/>
          </a:xfrm>
        </p:grpSpPr>
        <p:sp>
          <p:nvSpPr>
            <p:cNvPr id="6" name="Freeform 6"/>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7" name="TextBox 7"/>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8" name="Freeform 8"/>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3"/>
            <a:stretch>
              <a:fillRect/>
            </a:stretch>
          </a:blipFill>
        </p:spPr>
      </p:sp>
      <p:sp>
        <p:nvSpPr>
          <p:cNvPr id="10" name="TextBox 10"/>
          <p:cNvSpPr txBox="1"/>
          <p:nvPr/>
        </p:nvSpPr>
        <p:spPr>
          <a:xfrm>
            <a:off x="640714" y="504669"/>
            <a:ext cx="8503286" cy="883920"/>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LA- Deep Dive</a:t>
            </a:r>
          </a:p>
        </p:txBody>
      </p:sp>
      <p:pic>
        <p:nvPicPr>
          <p:cNvPr id="12" name="Picture 11">
            <a:extLst>
              <a:ext uri="{FF2B5EF4-FFF2-40B4-BE49-F238E27FC236}">
                <a16:creationId xmlns:a16="http://schemas.microsoft.com/office/drawing/2014/main" id="{9A9C3C9B-1BC6-699C-7E0F-BAF18F9E182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3238493" y="1388589"/>
            <a:ext cx="11811000" cy="85912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3810700" y="-849267"/>
            <a:ext cx="1791134" cy="17911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17602893" y="1060666"/>
            <a:ext cx="750130" cy="749321"/>
            <a:chOff x="0" y="0"/>
            <a:chExt cx="812800" cy="811923"/>
          </a:xfrm>
        </p:grpSpPr>
        <p:sp>
          <p:nvSpPr>
            <p:cNvPr id="6" name="Freeform 6"/>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7" name="TextBox 7"/>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8" name="Freeform 8"/>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3"/>
            <a:stretch>
              <a:fillRect/>
            </a:stretch>
          </a:blipFill>
        </p:spPr>
      </p:sp>
      <p:sp>
        <p:nvSpPr>
          <p:cNvPr id="9" name="Freeform 9"/>
          <p:cNvSpPr/>
          <p:nvPr/>
        </p:nvSpPr>
        <p:spPr>
          <a:xfrm>
            <a:off x="2504804" y="1967991"/>
            <a:ext cx="13097030" cy="7564664"/>
          </a:xfrm>
          <a:custGeom>
            <a:avLst/>
            <a:gdLst/>
            <a:ahLst/>
            <a:cxnLst/>
            <a:rect l="l" t="t" r="r" b="b"/>
            <a:pathLst>
              <a:path w="13097030" h="7564664">
                <a:moveTo>
                  <a:pt x="0" y="0"/>
                </a:moveTo>
                <a:lnTo>
                  <a:pt x="13097029" y="0"/>
                </a:lnTo>
                <a:lnTo>
                  <a:pt x="13097029" y="7564664"/>
                </a:lnTo>
                <a:lnTo>
                  <a:pt x="0" y="7564664"/>
                </a:lnTo>
                <a:lnTo>
                  <a:pt x="0" y="0"/>
                </a:lnTo>
                <a:close/>
              </a:path>
            </a:pathLst>
          </a:custGeom>
          <a:blipFill>
            <a:blip r:embed="rId4"/>
            <a:stretch>
              <a:fillRect l="-1136" t="-823" r="-880" b="-1610"/>
            </a:stretch>
          </a:blipFill>
        </p:spPr>
      </p:sp>
      <p:sp>
        <p:nvSpPr>
          <p:cNvPr id="10" name="TextBox 10"/>
          <p:cNvSpPr txBox="1"/>
          <p:nvPr/>
        </p:nvSpPr>
        <p:spPr>
          <a:xfrm>
            <a:off x="640714" y="504669"/>
            <a:ext cx="8503286" cy="883920"/>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LA- Deep Dive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3810700" y="-849267"/>
            <a:ext cx="1791134" cy="17911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17602893" y="1060666"/>
            <a:ext cx="750130" cy="749321"/>
            <a:chOff x="0" y="0"/>
            <a:chExt cx="812800" cy="811923"/>
          </a:xfrm>
        </p:grpSpPr>
        <p:sp>
          <p:nvSpPr>
            <p:cNvPr id="6" name="Freeform 6"/>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7" name="TextBox 7"/>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8" name="Freeform 8"/>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3"/>
            <a:stretch>
              <a:fillRect/>
            </a:stretch>
          </a:blipFill>
        </p:spPr>
      </p:sp>
      <p:sp>
        <p:nvSpPr>
          <p:cNvPr id="9" name="Freeform 9"/>
          <p:cNvSpPr/>
          <p:nvPr/>
        </p:nvSpPr>
        <p:spPr>
          <a:xfrm>
            <a:off x="2697146" y="1809987"/>
            <a:ext cx="12914656" cy="7616281"/>
          </a:xfrm>
          <a:custGeom>
            <a:avLst/>
            <a:gdLst/>
            <a:ahLst/>
            <a:cxnLst/>
            <a:rect l="l" t="t" r="r" b="b"/>
            <a:pathLst>
              <a:path w="12914656" h="7616281">
                <a:moveTo>
                  <a:pt x="0" y="0"/>
                </a:moveTo>
                <a:lnTo>
                  <a:pt x="12914656" y="0"/>
                </a:lnTo>
                <a:lnTo>
                  <a:pt x="12914656" y="7616281"/>
                </a:lnTo>
                <a:lnTo>
                  <a:pt x="0" y="7616281"/>
                </a:lnTo>
                <a:lnTo>
                  <a:pt x="0" y="0"/>
                </a:lnTo>
                <a:close/>
              </a:path>
            </a:pathLst>
          </a:custGeom>
          <a:blipFill>
            <a:blip r:embed="rId4"/>
            <a:stretch>
              <a:fillRect l="-1355" t="-2232" r="-1315" b="-4183"/>
            </a:stretch>
          </a:blipFill>
        </p:spPr>
      </p:sp>
      <p:sp>
        <p:nvSpPr>
          <p:cNvPr id="10" name="TextBox 10"/>
          <p:cNvSpPr txBox="1"/>
          <p:nvPr/>
        </p:nvSpPr>
        <p:spPr>
          <a:xfrm>
            <a:off x="651188" y="504669"/>
            <a:ext cx="8503286" cy="883920"/>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LA- Deep Dive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3810700" y="-849267"/>
            <a:ext cx="1791134" cy="17911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17602893" y="1060666"/>
            <a:ext cx="750130" cy="749321"/>
            <a:chOff x="0" y="0"/>
            <a:chExt cx="812800" cy="811923"/>
          </a:xfrm>
        </p:grpSpPr>
        <p:sp>
          <p:nvSpPr>
            <p:cNvPr id="6" name="Freeform 6"/>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7" name="TextBox 7"/>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8" name="Freeform 8"/>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3"/>
            <a:stretch>
              <a:fillRect/>
            </a:stretch>
          </a:blipFill>
        </p:spPr>
      </p:sp>
      <p:sp>
        <p:nvSpPr>
          <p:cNvPr id="9" name="Freeform 9"/>
          <p:cNvSpPr/>
          <p:nvPr/>
        </p:nvSpPr>
        <p:spPr>
          <a:xfrm>
            <a:off x="3306479" y="1809987"/>
            <a:ext cx="11675042" cy="7911377"/>
          </a:xfrm>
          <a:custGeom>
            <a:avLst/>
            <a:gdLst/>
            <a:ahLst/>
            <a:cxnLst/>
            <a:rect l="l" t="t" r="r" b="b"/>
            <a:pathLst>
              <a:path w="11675042" h="7911377">
                <a:moveTo>
                  <a:pt x="0" y="0"/>
                </a:moveTo>
                <a:lnTo>
                  <a:pt x="11675042" y="0"/>
                </a:lnTo>
                <a:lnTo>
                  <a:pt x="11675042" y="7911377"/>
                </a:lnTo>
                <a:lnTo>
                  <a:pt x="0" y="7911377"/>
                </a:lnTo>
                <a:lnTo>
                  <a:pt x="0" y="0"/>
                </a:lnTo>
                <a:close/>
              </a:path>
            </a:pathLst>
          </a:custGeom>
          <a:blipFill>
            <a:blip r:embed="rId4"/>
            <a:stretch>
              <a:fillRect l="-1509" t="-2198" r="-1110" b="-1815"/>
            </a:stretch>
          </a:blipFill>
        </p:spPr>
      </p:sp>
      <p:sp>
        <p:nvSpPr>
          <p:cNvPr id="10" name="TextBox 10"/>
          <p:cNvSpPr txBox="1"/>
          <p:nvPr/>
        </p:nvSpPr>
        <p:spPr>
          <a:xfrm>
            <a:off x="640714" y="504669"/>
            <a:ext cx="8503286" cy="883920"/>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LA- Deep Dive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3810700" y="-849267"/>
            <a:ext cx="1791134" cy="17911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17602893" y="1060666"/>
            <a:ext cx="750130" cy="749321"/>
            <a:chOff x="0" y="0"/>
            <a:chExt cx="812800" cy="811923"/>
          </a:xfrm>
        </p:grpSpPr>
        <p:sp>
          <p:nvSpPr>
            <p:cNvPr id="6" name="Freeform 6"/>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7" name="TextBox 7"/>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8" name="Freeform 8"/>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3"/>
            <a:stretch>
              <a:fillRect/>
            </a:stretch>
          </a:blipFill>
        </p:spPr>
      </p:sp>
      <p:sp>
        <p:nvSpPr>
          <p:cNvPr id="9" name="Freeform 9"/>
          <p:cNvSpPr/>
          <p:nvPr/>
        </p:nvSpPr>
        <p:spPr>
          <a:xfrm>
            <a:off x="2972496" y="1809987"/>
            <a:ext cx="13208686" cy="7795290"/>
          </a:xfrm>
          <a:custGeom>
            <a:avLst/>
            <a:gdLst/>
            <a:ahLst/>
            <a:cxnLst/>
            <a:rect l="l" t="t" r="r" b="b"/>
            <a:pathLst>
              <a:path w="13208686" h="7795290">
                <a:moveTo>
                  <a:pt x="0" y="0"/>
                </a:moveTo>
                <a:lnTo>
                  <a:pt x="13208686" y="0"/>
                </a:lnTo>
                <a:lnTo>
                  <a:pt x="13208686" y="7795290"/>
                </a:lnTo>
                <a:lnTo>
                  <a:pt x="0" y="7795290"/>
                </a:lnTo>
                <a:lnTo>
                  <a:pt x="0" y="0"/>
                </a:lnTo>
                <a:close/>
              </a:path>
            </a:pathLst>
          </a:custGeom>
          <a:blipFill>
            <a:blip r:embed="rId4"/>
            <a:stretch>
              <a:fillRect l="-625" t="-2148" r="-813" b="-1582"/>
            </a:stretch>
          </a:blipFill>
        </p:spPr>
      </p:sp>
      <p:sp>
        <p:nvSpPr>
          <p:cNvPr id="10" name="TextBox 10"/>
          <p:cNvSpPr txBox="1"/>
          <p:nvPr/>
        </p:nvSpPr>
        <p:spPr>
          <a:xfrm>
            <a:off x="640714" y="504669"/>
            <a:ext cx="8503286" cy="883920"/>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LA- Deep Dive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3810700" y="-849267"/>
            <a:ext cx="1791134" cy="17911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5" name="Group 5"/>
          <p:cNvGrpSpPr/>
          <p:nvPr/>
        </p:nvGrpSpPr>
        <p:grpSpPr>
          <a:xfrm>
            <a:off x="17602893" y="1060666"/>
            <a:ext cx="750130" cy="749321"/>
            <a:chOff x="0" y="0"/>
            <a:chExt cx="812800" cy="811923"/>
          </a:xfrm>
        </p:grpSpPr>
        <p:sp>
          <p:nvSpPr>
            <p:cNvPr id="6" name="Freeform 6"/>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7" name="TextBox 7"/>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8" name="Freeform 8"/>
          <p:cNvSpPr/>
          <p:nvPr/>
        </p:nvSpPr>
        <p:spPr>
          <a:xfrm>
            <a:off x="15244156" y="-2242981"/>
            <a:ext cx="3852648" cy="3852648"/>
          </a:xfrm>
          <a:custGeom>
            <a:avLst/>
            <a:gdLst/>
            <a:ahLst/>
            <a:cxnLst/>
            <a:rect l="l" t="t" r="r" b="b"/>
            <a:pathLst>
              <a:path w="3852648" h="3852648">
                <a:moveTo>
                  <a:pt x="0" y="0"/>
                </a:moveTo>
                <a:lnTo>
                  <a:pt x="3852649" y="0"/>
                </a:lnTo>
                <a:lnTo>
                  <a:pt x="3852649" y="3852648"/>
                </a:lnTo>
                <a:lnTo>
                  <a:pt x="0" y="3852648"/>
                </a:lnTo>
                <a:lnTo>
                  <a:pt x="0" y="0"/>
                </a:lnTo>
                <a:close/>
              </a:path>
            </a:pathLst>
          </a:custGeom>
          <a:blipFill>
            <a:blip r:embed="rId3"/>
            <a:stretch>
              <a:fillRect/>
            </a:stretch>
          </a:blipFill>
        </p:spPr>
      </p:sp>
      <p:sp>
        <p:nvSpPr>
          <p:cNvPr id="9" name="Freeform 9"/>
          <p:cNvSpPr/>
          <p:nvPr/>
        </p:nvSpPr>
        <p:spPr>
          <a:xfrm>
            <a:off x="3024134" y="1943452"/>
            <a:ext cx="12455998" cy="7505200"/>
          </a:xfrm>
          <a:custGeom>
            <a:avLst/>
            <a:gdLst/>
            <a:ahLst/>
            <a:cxnLst/>
            <a:rect l="l" t="t" r="r" b="b"/>
            <a:pathLst>
              <a:path w="12455998" h="7505200">
                <a:moveTo>
                  <a:pt x="0" y="0"/>
                </a:moveTo>
                <a:lnTo>
                  <a:pt x="12455998" y="0"/>
                </a:lnTo>
                <a:lnTo>
                  <a:pt x="12455998" y="7505200"/>
                </a:lnTo>
                <a:lnTo>
                  <a:pt x="0" y="7505200"/>
                </a:lnTo>
                <a:lnTo>
                  <a:pt x="0" y="0"/>
                </a:lnTo>
                <a:close/>
              </a:path>
            </a:pathLst>
          </a:custGeom>
          <a:blipFill>
            <a:blip r:embed="rId4"/>
            <a:stretch>
              <a:fillRect l="-1015" t="-1778" r="-977" b="-2537"/>
            </a:stretch>
          </a:blipFill>
        </p:spPr>
      </p:sp>
      <p:sp>
        <p:nvSpPr>
          <p:cNvPr id="10" name="TextBox 10"/>
          <p:cNvSpPr txBox="1"/>
          <p:nvPr/>
        </p:nvSpPr>
        <p:spPr>
          <a:xfrm>
            <a:off x="640714" y="504669"/>
            <a:ext cx="8503286" cy="883920"/>
          </a:xfrm>
          <a:prstGeom prst="rect">
            <a:avLst/>
          </a:prstGeom>
        </p:spPr>
        <p:txBody>
          <a:bodyPr lIns="0" tIns="0" rIns="0" bIns="0" rtlCol="0" anchor="t">
            <a:spAutoFit/>
          </a:bodyPr>
          <a:lstStyle/>
          <a:p>
            <a:pPr algn="l">
              <a:lnSpc>
                <a:spcPts val="6240"/>
              </a:lnSpc>
            </a:pPr>
            <a:r>
              <a:rPr lang="en-US" sz="6000" b="1" spc="126">
                <a:solidFill>
                  <a:srgbClr val="000000"/>
                </a:solidFill>
                <a:latin typeface="Poppins Bold"/>
                <a:ea typeface="Poppins Bold"/>
                <a:cs typeface="Poppins Bold"/>
                <a:sym typeface="Poppins Bold"/>
              </a:rPr>
              <a:t>LA- Deep Dive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89704"/>
            <a:ext cx="9062527" cy="1095375"/>
          </a:xfrm>
          <a:prstGeom prst="rect">
            <a:avLst/>
          </a:prstGeom>
        </p:spPr>
        <p:txBody>
          <a:bodyPr lIns="0" tIns="0" rIns="0" bIns="0" rtlCol="0" anchor="t">
            <a:spAutoFit/>
          </a:bodyPr>
          <a:lstStyle/>
          <a:p>
            <a:pPr algn="just">
              <a:lnSpc>
                <a:spcPts val="8400"/>
              </a:lnSpc>
            </a:pPr>
            <a:r>
              <a:rPr lang="en-US" sz="6000" b="1">
                <a:solidFill>
                  <a:srgbClr val="000000"/>
                </a:solidFill>
                <a:latin typeface="Poppins Bold"/>
                <a:ea typeface="Poppins Bold"/>
                <a:cs typeface="Poppins Bold"/>
                <a:sym typeface="Poppins Bold"/>
              </a:rPr>
              <a:t>Conclusion </a:t>
            </a:r>
          </a:p>
        </p:txBody>
      </p:sp>
      <p:sp>
        <p:nvSpPr>
          <p:cNvPr id="3" name="TextBox 3"/>
          <p:cNvSpPr txBox="1"/>
          <p:nvPr/>
        </p:nvSpPr>
        <p:spPr>
          <a:xfrm>
            <a:off x="1003848" y="1823932"/>
            <a:ext cx="16236342" cy="6198870"/>
          </a:xfrm>
          <a:prstGeom prst="rect">
            <a:avLst/>
          </a:prstGeom>
        </p:spPr>
        <p:txBody>
          <a:bodyPr lIns="0" tIns="0" rIns="0" bIns="0" rtlCol="0" anchor="t">
            <a:spAutoFit/>
          </a:bodyPr>
          <a:lstStyle/>
          <a:p>
            <a:pPr marL="582927" lvl="1" indent="-291463" algn="just">
              <a:lnSpc>
                <a:spcPts val="3779"/>
              </a:lnSpc>
              <a:buFont typeface="Arial"/>
              <a:buChar char="•"/>
            </a:pPr>
            <a:r>
              <a:rPr lang="en-US" sz="2699">
                <a:solidFill>
                  <a:srgbClr val="000000"/>
                </a:solidFill>
                <a:latin typeface="Poppins"/>
                <a:ea typeface="Poppins"/>
                <a:cs typeface="Poppins"/>
                <a:sym typeface="Poppins"/>
              </a:rPr>
              <a:t>Accidents have risen steadily from 2016 to 2022, with clear seasonal peaks (December being the highest).</a:t>
            </a:r>
          </a:p>
          <a:p>
            <a:pPr marL="582927" lvl="1" indent="-291463" algn="just">
              <a:lnSpc>
                <a:spcPts val="3779"/>
              </a:lnSpc>
              <a:buFont typeface="Arial"/>
              <a:buChar char="•"/>
            </a:pPr>
            <a:r>
              <a:rPr lang="en-US" sz="2699">
                <a:solidFill>
                  <a:srgbClr val="000000"/>
                </a:solidFill>
                <a:latin typeface="Poppins"/>
                <a:ea typeface="Poppins"/>
                <a:cs typeface="Poppins"/>
                <a:sym typeface="Poppins"/>
              </a:rPr>
              <a:t>California, especially Los Angeles, is a major hotspot with high accident counts and severity.</a:t>
            </a:r>
          </a:p>
          <a:p>
            <a:pPr marL="582927" lvl="1" indent="-291463" algn="just">
              <a:lnSpc>
                <a:spcPts val="3779"/>
              </a:lnSpc>
              <a:buFont typeface="Arial"/>
              <a:buChar char="•"/>
            </a:pPr>
            <a:r>
              <a:rPr lang="en-US" sz="2699">
                <a:solidFill>
                  <a:srgbClr val="000000"/>
                </a:solidFill>
                <a:latin typeface="Poppins"/>
                <a:ea typeface="Poppins"/>
                <a:cs typeface="Poppins"/>
                <a:sym typeface="Poppins"/>
              </a:rPr>
              <a:t>Time factors, including weekends, night-time, and evening rush hours, show a higher risk.</a:t>
            </a:r>
          </a:p>
          <a:p>
            <a:pPr marL="582927" lvl="1" indent="-291463" algn="just">
              <a:lnSpc>
                <a:spcPts val="3779"/>
              </a:lnSpc>
              <a:buFont typeface="Arial"/>
              <a:buChar char="•"/>
            </a:pPr>
            <a:r>
              <a:rPr lang="en-US" sz="2699">
                <a:solidFill>
                  <a:srgbClr val="000000"/>
                </a:solidFill>
                <a:latin typeface="Poppins"/>
                <a:ea typeface="Poppins"/>
                <a:cs typeface="Poppins"/>
                <a:sym typeface="Poppins"/>
              </a:rPr>
              <a:t>Weather plays a role in increasing accident severity, particularly in cloudy and foggy conditions.</a:t>
            </a:r>
          </a:p>
          <a:p>
            <a:pPr marL="582927" lvl="1" indent="-291463" algn="just">
              <a:lnSpc>
                <a:spcPts val="3779"/>
              </a:lnSpc>
              <a:buFont typeface="Arial"/>
              <a:buChar char="•"/>
            </a:pPr>
            <a:r>
              <a:rPr lang="en-US" sz="2699">
                <a:solidFill>
                  <a:srgbClr val="000000"/>
                </a:solidFill>
                <a:latin typeface="Poppins"/>
                <a:ea typeface="Poppins"/>
                <a:cs typeface="Poppins"/>
                <a:sym typeface="Poppins"/>
              </a:rPr>
              <a:t>Accident clearance duration: weekends, nights, and rush hour have more prolonged delays.</a:t>
            </a:r>
          </a:p>
          <a:p>
            <a:pPr algn="just">
              <a:lnSpc>
                <a:spcPts val="3779"/>
              </a:lnSpc>
            </a:pPr>
            <a:endParaRPr lang="en-US" sz="2699">
              <a:solidFill>
                <a:srgbClr val="000000"/>
              </a:solidFill>
              <a:latin typeface="Poppins"/>
              <a:ea typeface="Poppins"/>
              <a:cs typeface="Poppins"/>
              <a:sym typeface="Poppins"/>
            </a:endParaRPr>
          </a:p>
          <a:p>
            <a:pPr algn="just">
              <a:lnSpc>
                <a:spcPts val="3779"/>
              </a:lnSpc>
            </a:pPr>
            <a:endParaRPr lang="en-US" sz="2699">
              <a:solidFill>
                <a:srgbClr val="000000"/>
              </a:solidFill>
              <a:latin typeface="Poppins"/>
              <a:ea typeface="Poppins"/>
              <a:cs typeface="Poppins"/>
              <a:sym typeface="Poppins"/>
            </a:endParaRPr>
          </a:p>
          <a:p>
            <a:pPr algn="just">
              <a:lnSpc>
                <a:spcPts val="3779"/>
              </a:lnSpc>
            </a:pPr>
            <a:r>
              <a:rPr lang="en-US" sz="2699">
                <a:solidFill>
                  <a:srgbClr val="000000"/>
                </a:solidFill>
                <a:latin typeface="Poppins"/>
                <a:ea typeface="Poppins"/>
                <a:cs typeface="Poppins"/>
                <a:sym typeface="Poppins"/>
              </a:rPr>
              <a:t>By analysing these patterns, we can not only understand when and where accidents are most likely but also propose measures to improve road safety and emergency response.</a:t>
            </a:r>
          </a:p>
        </p:txBody>
      </p:sp>
      <p:grpSp>
        <p:nvGrpSpPr>
          <p:cNvPr id="4" name="Group 4"/>
          <p:cNvGrpSpPr/>
          <p:nvPr/>
        </p:nvGrpSpPr>
        <p:grpSpPr>
          <a:xfrm>
            <a:off x="13264257" y="8681532"/>
            <a:ext cx="2114557" cy="211455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133"/>
            </a:solidFill>
          </p:spPr>
        </p:sp>
        <p:sp>
          <p:nvSpPr>
            <p:cNvPr id="6" name="TextBox 6"/>
            <p:cNvSpPr txBox="1"/>
            <p:nvPr/>
          </p:nvSpPr>
          <p:spPr>
            <a:xfrm>
              <a:off x="76200" y="9525"/>
              <a:ext cx="660400" cy="727075"/>
            </a:xfrm>
            <a:prstGeom prst="rect">
              <a:avLst/>
            </a:prstGeom>
          </p:spPr>
          <p:txBody>
            <a:bodyPr lIns="50800" tIns="50800" rIns="50800" bIns="50800" rtlCol="0" anchor="ctr"/>
            <a:lstStyle/>
            <a:p>
              <a:pPr algn="ctr">
                <a:lnSpc>
                  <a:spcPts val="3015"/>
                </a:lnSpc>
              </a:pPr>
              <a:endParaRPr/>
            </a:p>
          </p:txBody>
        </p:sp>
      </p:grpSp>
      <p:grpSp>
        <p:nvGrpSpPr>
          <p:cNvPr id="7" name="Group 7"/>
          <p:cNvGrpSpPr/>
          <p:nvPr/>
        </p:nvGrpSpPr>
        <p:grpSpPr>
          <a:xfrm>
            <a:off x="15588534" y="60062"/>
            <a:ext cx="711384" cy="710616"/>
            <a:chOff x="0" y="0"/>
            <a:chExt cx="812800" cy="811923"/>
          </a:xfrm>
        </p:grpSpPr>
        <p:sp>
          <p:nvSpPr>
            <p:cNvPr id="8" name="Freeform 8"/>
            <p:cNvSpPr/>
            <p:nvPr/>
          </p:nvSpPr>
          <p:spPr>
            <a:xfrm>
              <a:off x="0" y="0"/>
              <a:ext cx="812800" cy="811923"/>
            </a:xfrm>
            <a:custGeom>
              <a:avLst/>
              <a:gdLst/>
              <a:ahLst/>
              <a:cxnLst/>
              <a:rect l="l" t="t" r="r" b="b"/>
              <a:pathLst>
                <a:path w="812800" h="811923">
                  <a:moveTo>
                    <a:pt x="406400" y="0"/>
                  </a:moveTo>
                  <a:cubicBezTo>
                    <a:pt x="181951" y="0"/>
                    <a:pt x="0" y="181755"/>
                    <a:pt x="0" y="405961"/>
                  </a:cubicBezTo>
                  <a:cubicBezTo>
                    <a:pt x="0" y="630168"/>
                    <a:pt x="181951" y="811923"/>
                    <a:pt x="406400" y="811923"/>
                  </a:cubicBezTo>
                  <a:cubicBezTo>
                    <a:pt x="630849" y="811923"/>
                    <a:pt x="812800" y="630168"/>
                    <a:pt x="812800" y="405961"/>
                  </a:cubicBezTo>
                  <a:cubicBezTo>
                    <a:pt x="812800" y="181755"/>
                    <a:pt x="630849" y="0"/>
                    <a:pt x="406400" y="0"/>
                  </a:cubicBezTo>
                  <a:close/>
                </a:path>
              </a:pathLst>
            </a:custGeom>
            <a:solidFill>
              <a:srgbClr val="302F2F"/>
            </a:solidFill>
          </p:spPr>
        </p:sp>
        <p:sp>
          <p:nvSpPr>
            <p:cNvPr id="9" name="TextBox 9"/>
            <p:cNvSpPr txBox="1"/>
            <p:nvPr/>
          </p:nvSpPr>
          <p:spPr>
            <a:xfrm>
              <a:off x="76200" y="9443"/>
              <a:ext cx="660400" cy="726362"/>
            </a:xfrm>
            <a:prstGeom prst="rect">
              <a:avLst/>
            </a:prstGeom>
          </p:spPr>
          <p:txBody>
            <a:bodyPr lIns="50800" tIns="50800" rIns="50800" bIns="50800" rtlCol="0" anchor="ctr"/>
            <a:lstStyle/>
            <a:p>
              <a:pPr algn="ctr">
                <a:lnSpc>
                  <a:spcPts val="3015"/>
                </a:lnSpc>
              </a:pPr>
              <a:endParaRPr/>
            </a:p>
          </p:txBody>
        </p:sp>
      </p:grpSp>
      <p:sp>
        <p:nvSpPr>
          <p:cNvPr id="10" name="Freeform 10"/>
          <p:cNvSpPr/>
          <p:nvPr/>
        </p:nvSpPr>
        <p:spPr>
          <a:xfrm>
            <a:off x="14979263" y="7984713"/>
            <a:ext cx="3460726" cy="3460726"/>
          </a:xfrm>
          <a:custGeom>
            <a:avLst/>
            <a:gdLst/>
            <a:ahLst/>
            <a:cxnLst/>
            <a:rect l="l" t="t" r="r" b="b"/>
            <a:pathLst>
              <a:path w="3460726" h="3460726">
                <a:moveTo>
                  <a:pt x="0" y="0"/>
                </a:moveTo>
                <a:lnTo>
                  <a:pt x="3460725" y="0"/>
                </a:lnTo>
                <a:lnTo>
                  <a:pt x="3460725" y="3460725"/>
                </a:lnTo>
                <a:lnTo>
                  <a:pt x="0" y="3460725"/>
                </a:lnTo>
                <a:lnTo>
                  <a:pt x="0" y="0"/>
                </a:lnTo>
                <a:close/>
              </a:path>
            </a:pathLst>
          </a:custGeom>
          <a:blipFill>
            <a:blip r:embed="rId3"/>
            <a:stretch>
              <a:fillRect/>
            </a:stretch>
          </a:blipFill>
        </p:spPr>
      </p:sp>
      <p:sp>
        <p:nvSpPr>
          <p:cNvPr id="11" name="Freeform 11"/>
          <p:cNvSpPr/>
          <p:nvPr/>
        </p:nvSpPr>
        <p:spPr>
          <a:xfrm>
            <a:off x="16299918" y="-604909"/>
            <a:ext cx="1979662" cy="1979662"/>
          </a:xfrm>
          <a:custGeom>
            <a:avLst/>
            <a:gdLst/>
            <a:ahLst/>
            <a:cxnLst/>
            <a:rect l="l" t="t" r="r" b="b"/>
            <a:pathLst>
              <a:path w="1979662" h="1979662">
                <a:moveTo>
                  <a:pt x="0" y="0"/>
                </a:moveTo>
                <a:lnTo>
                  <a:pt x="1979662" y="0"/>
                </a:lnTo>
                <a:lnTo>
                  <a:pt x="1979662" y="1979661"/>
                </a:lnTo>
                <a:lnTo>
                  <a:pt x="0" y="1979661"/>
                </a:lnTo>
                <a:lnTo>
                  <a:pt x="0" y="0"/>
                </a:lnTo>
                <a:close/>
              </a:path>
            </a:pathLst>
          </a:custGeom>
          <a:blipFill>
            <a:blip r:embed="rId3"/>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425</Words>
  <Application>Microsoft Office PowerPoint</Application>
  <PresentationFormat>Custom</PresentationFormat>
  <Paragraphs>107</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Poppins</vt:lpstr>
      <vt:lpstr>Poppins Medium</vt:lpstr>
      <vt:lpstr>Calibri</vt:lpstr>
      <vt:lpstr>Poppins Semi-Bold</vt:lpstr>
      <vt:lpstr>Poppins Italics</vt:lpstr>
      <vt:lpstr>Poppins Bold</vt:lpstr>
      <vt:lpstr>Poppins Ultra-Bold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White Creative Project Brief Presentation</dc:title>
  <dc:creator>Ali Raza</dc:creator>
  <cp:lastModifiedBy>ALI RAZA</cp:lastModifiedBy>
  <cp:revision>12</cp:revision>
  <dcterms:created xsi:type="dcterms:W3CDTF">2006-08-16T00:00:00Z</dcterms:created>
  <dcterms:modified xsi:type="dcterms:W3CDTF">2025-10-11T08:55:26Z</dcterms:modified>
  <dc:identifier>DAGzcivV918</dc:identifier>
</cp:coreProperties>
</file>